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3"/>
  </p:notesMasterIdLst>
  <p:sldIdLst>
    <p:sldId id="256" r:id="rId2"/>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http://customooxmlschemas.google.com/">
      <go:slidesCustomData xmlns:go="http://customooxmlschemas.google.com/"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7" roundtripDataSignature="AMtx7mjdo7FECp685JsX7/4pIVeoAktjNA=="/>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4951C83-D00D-4BA9-9D1E-80FFA81B6D27}" v="17" dt="2025-10-29T02:37:41.02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90" d="100"/>
          <a:sy n="90" d="100"/>
        </p:scale>
        <p:origin x="600" y="44"/>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13" Type="http://schemas.microsoft.com/office/2015/10/relationships/revisionInfo" Target="revisionInfo.xml"/><Relationship Id="rId3" Type="http://schemas.openxmlformats.org/officeDocument/2006/relationships/notesMaster" Target="notesMasters/notesMaster1.xml"/><Relationship Id="rId7" Type="http://customschemas.google.com/relationships/presentationmetadata" Target="metadata"/><Relationship Id="rId12" Type="http://schemas.microsoft.com/office/2016/11/relationships/changesInfo" Target="changesInfos/changesInfo1.xml"/><Relationship Id="rId2" Type="http://schemas.openxmlformats.org/officeDocument/2006/relationships/slide" Target="slides/slide1.xml"/><Relationship Id="rId1" Type="http://schemas.openxmlformats.org/officeDocument/2006/relationships/slideMaster" Target="slideMasters/slideMaster1.xml"/><Relationship Id="rId11" Type="http://schemas.openxmlformats.org/officeDocument/2006/relationships/tableStyles" Target="tableStyles.xml"/><Relationship Id="rId10" Type="http://schemas.openxmlformats.org/officeDocument/2006/relationships/theme" Target="theme/theme1.xml"/><Relationship Id="rId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ishra, Ritu, VBAVACO" userId="a6fc6115-4e9e-4fd4-a243-9de3bfa497a7" providerId="ADAL" clId="{F4951C83-D00D-4BA9-9D1E-80FFA81B6D27}"/>
    <pc:docChg chg="undo custSel modSld">
      <pc:chgData name="Mishra, Ritu, VBAVACO" userId="a6fc6115-4e9e-4fd4-a243-9de3bfa497a7" providerId="ADAL" clId="{F4951C83-D00D-4BA9-9D1E-80FFA81B6D27}" dt="2025-10-29T02:40:34.136" v="2170" actId="108"/>
      <pc:docMkLst>
        <pc:docMk/>
      </pc:docMkLst>
      <pc:sldChg chg="addSp delSp modSp mod">
        <pc:chgData name="Mishra, Ritu, VBAVACO" userId="a6fc6115-4e9e-4fd4-a243-9de3bfa497a7" providerId="ADAL" clId="{F4951C83-D00D-4BA9-9D1E-80FFA81B6D27}" dt="2025-10-29T02:40:34.136" v="2170" actId="108"/>
        <pc:sldMkLst>
          <pc:docMk/>
          <pc:sldMk cId="0" sldId="256"/>
        </pc:sldMkLst>
        <pc:spChg chg="add">
          <ac:chgData name="Mishra, Ritu, VBAVACO" userId="a6fc6115-4e9e-4fd4-a243-9de3bfa497a7" providerId="ADAL" clId="{F4951C83-D00D-4BA9-9D1E-80FFA81B6D27}" dt="2025-10-29T02:30:20.990" v="1890"/>
          <ac:spMkLst>
            <pc:docMk/>
            <pc:sldMk cId="0" sldId="256"/>
            <ac:spMk id="2" creationId="{26B3430D-B8FB-79DB-005C-D527406020E9}"/>
          </ac:spMkLst>
        </pc:spChg>
        <pc:spChg chg="add">
          <ac:chgData name="Mishra, Ritu, VBAVACO" userId="a6fc6115-4e9e-4fd4-a243-9de3bfa497a7" providerId="ADAL" clId="{F4951C83-D00D-4BA9-9D1E-80FFA81B6D27}" dt="2025-10-29T02:30:28.957" v="1892"/>
          <ac:spMkLst>
            <pc:docMk/>
            <pc:sldMk cId="0" sldId="256"/>
            <ac:spMk id="3" creationId="{541E3B41-615B-B978-67DA-8445F38B7D9C}"/>
          </ac:spMkLst>
        </pc:spChg>
        <pc:spChg chg="add">
          <ac:chgData name="Mishra, Ritu, VBAVACO" userId="a6fc6115-4e9e-4fd4-a243-9de3bfa497a7" providerId="ADAL" clId="{F4951C83-D00D-4BA9-9D1E-80FFA81B6D27}" dt="2025-10-29T02:31:57.140" v="1897"/>
          <ac:spMkLst>
            <pc:docMk/>
            <pc:sldMk cId="0" sldId="256"/>
            <ac:spMk id="4" creationId="{C5F1D71C-2FC9-82DC-8571-F65B0B14B7A0}"/>
          </ac:spMkLst>
        </pc:spChg>
        <pc:spChg chg="mod">
          <ac:chgData name="Mishra, Ritu, VBAVACO" userId="a6fc6115-4e9e-4fd4-a243-9de3bfa497a7" providerId="ADAL" clId="{F4951C83-D00D-4BA9-9D1E-80FFA81B6D27}" dt="2025-10-29T02:25:12.316" v="1695" actId="1076"/>
          <ac:spMkLst>
            <pc:docMk/>
            <pc:sldMk cId="0" sldId="256"/>
            <ac:spMk id="27" creationId="{00000000-0000-0000-0000-000000000000}"/>
          </ac:spMkLst>
        </pc:spChg>
        <pc:spChg chg="mod">
          <ac:chgData name="Mishra, Ritu, VBAVACO" userId="a6fc6115-4e9e-4fd4-a243-9de3bfa497a7" providerId="ADAL" clId="{F4951C83-D00D-4BA9-9D1E-80FFA81B6D27}" dt="2025-10-29T02:25:15.706" v="1696" actId="1076"/>
          <ac:spMkLst>
            <pc:docMk/>
            <pc:sldMk cId="0" sldId="256"/>
            <ac:spMk id="28" creationId="{00000000-0000-0000-0000-000000000000}"/>
          </ac:spMkLst>
        </pc:spChg>
        <pc:spChg chg="mod">
          <ac:chgData name="Mishra, Ritu, VBAVACO" userId="a6fc6115-4e9e-4fd4-a243-9de3bfa497a7" providerId="ADAL" clId="{F4951C83-D00D-4BA9-9D1E-80FFA81B6D27}" dt="2025-10-29T02:25:27.804" v="1699" actId="1076"/>
          <ac:spMkLst>
            <pc:docMk/>
            <pc:sldMk cId="0" sldId="256"/>
            <ac:spMk id="30" creationId="{00000000-0000-0000-0000-000000000000}"/>
          </ac:spMkLst>
        </pc:spChg>
        <pc:spChg chg="mod">
          <ac:chgData name="Mishra, Ritu, VBAVACO" userId="a6fc6115-4e9e-4fd4-a243-9de3bfa497a7" providerId="ADAL" clId="{F4951C83-D00D-4BA9-9D1E-80FFA81B6D27}" dt="2025-10-29T02:25:33.309" v="1700" actId="1076"/>
          <ac:spMkLst>
            <pc:docMk/>
            <pc:sldMk cId="0" sldId="256"/>
            <ac:spMk id="32" creationId="{00000000-0000-0000-0000-000000000000}"/>
          </ac:spMkLst>
        </pc:spChg>
        <pc:spChg chg="mod">
          <ac:chgData name="Mishra, Ritu, VBAVACO" userId="a6fc6115-4e9e-4fd4-a243-9de3bfa497a7" providerId="ADAL" clId="{F4951C83-D00D-4BA9-9D1E-80FFA81B6D27}" dt="2025-10-29T02:25:07.098" v="1694" actId="14100"/>
          <ac:spMkLst>
            <pc:docMk/>
            <pc:sldMk cId="0" sldId="256"/>
            <ac:spMk id="34" creationId="{00000000-0000-0000-0000-000000000000}"/>
          </ac:spMkLst>
        </pc:spChg>
        <pc:spChg chg="mod">
          <ac:chgData name="Mishra, Ritu, VBAVACO" userId="a6fc6115-4e9e-4fd4-a243-9de3bfa497a7" providerId="ADAL" clId="{F4951C83-D00D-4BA9-9D1E-80FFA81B6D27}" dt="2025-10-29T02:28:35.332" v="1889" actId="113"/>
          <ac:spMkLst>
            <pc:docMk/>
            <pc:sldMk cId="0" sldId="256"/>
            <ac:spMk id="35" creationId="{00000000-0000-0000-0000-000000000000}"/>
          </ac:spMkLst>
        </pc:spChg>
        <pc:spChg chg="mod">
          <ac:chgData name="Mishra, Ritu, VBAVACO" userId="a6fc6115-4e9e-4fd4-a243-9de3bfa497a7" providerId="ADAL" clId="{F4951C83-D00D-4BA9-9D1E-80FFA81B6D27}" dt="2025-10-29T02:28:17.944" v="1887" actId="20577"/>
          <ac:spMkLst>
            <pc:docMk/>
            <pc:sldMk cId="0" sldId="256"/>
            <ac:spMk id="36" creationId="{00000000-0000-0000-0000-000000000000}"/>
          </ac:spMkLst>
        </pc:spChg>
        <pc:spChg chg="mod">
          <ac:chgData name="Mishra, Ritu, VBAVACO" userId="a6fc6115-4e9e-4fd4-a243-9de3bfa497a7" providerId="ADAL" clId="{F4951C83-D00D-4BA9-9D1E-80FFA81B6D27}" dt="2025-10-29T02:33:26.975" v="1959" actId="33524"/>
          <ac:spMkLst>
            <pc:docMk/>
            <pc:sldMk cId="0" sldId="256"/>
            <ac:spMk id="37" creationId="{00000000-0000-0000-0000-000000000000}"/>
          </ac:spMkLst>
        </pc:spChg>
        <pc:spChg chg="mod">
          <ac:chgData name="Mishra, Ritu, VBAVACO" userId="a6fc6115-4e9e-4fd4-a243-9de3bfa497a7" providerId="ADAL" clId="{F4951C83-D00D-4BA9-9D1E-80FFA81B6D27}" dt="2025-10-29T02:40:34.136" v="2170" actId="108"/>
          <ac:spMkLst>
            <pc:docMk/>
            <pc:sldMk cId="0" sldId="256"/>
            <ac:spMk id="38" creationId="{00000000-0000-0000-0000-000000000000}"/>
          </ac:spMkLst>
        </pc:spChg>
        <pc:spChg chg="add del mod">
          <ac:chgData name="Mishra, Ritu, VBAVACO" userId="a6fc6115-4e9e-4fd4-a243-9de3bfa497a7" providerId="ADAL" clId="{F4951C83-D00D-4BA9-9D1E-80FFA81B6D27}" dt="2025-10-29T02:14:05.340" v="1187" actId="14100"/>
          <ac:spMkLst>
            <pc:docMk/>
            <pc:sldMk cId="0" sldId="256"/>
            <ac:spMk id="45" creationId="{00000000-0000-0000-0000-000000000000}"/>
          </ac:spMkLst>
        </pc:spChg>
        <pc:spChg chg="mod">
          <ac:chgData name="Mishra, Ritu, VBAVACO" userId="a6fc6115-4e9e-4fd4-a243-9de3bfa497a7" providerId="ADAL" clId="{F4951C83-D00D-4BA9-9D1E-80FFA81B6D27}" dt="2025-10-29T02:36:06.916" v="2019" actId="5793"/>
          <ac:spMkLst>
            <pc:docMk/>
            <pc:sldMk cId="0" sldId="256"/>
            <ac:spMk id="47" creationId="{00000000-0000-0000-0000-000000000000}"/>
          </ac:spMkLst>
        </pc:spChg>
        <pc:spChg chg="mod">
          <ac:chgData name="Mishra, Ritu, VBAVACO" userId="a6fc6115-4e9e-4fd4-a243-9de3bfa497a7" providerId="ADAL" clId="{F4951C83-D00D-4BA9-9D1E-80FFA81B6D27}" dt="2025-10-29T02:14:01.298" v="1186" actId="14100"/>
          <ac:spMkLst>
            <pc:docMk/>
            <pc:sldMk cId="0" sldId="256"/>
            <ac:spMk id="48"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AU"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
        <p:cNvGrpSpPr/>
        <p:nvPr/>
      </p:nvGrpSpPr>
      <p:grpSpPr>
        <a:xfrm>
          <a:off x="0" y="0"/>
          <a:ext cx="0" cy="0"/>
          <a:chOff x="0" y="0"/>
          <a:chExt cx="0" cy="0"/>
        </a:xfrm>
      </p:grpSpPr>
      <p:sp>
        <p:nvSpPr>
          <p:cNvPr id="16" name="Google Shape;16;p1:notes"/>
          <p:cNvSpPr txBox="1">
            <a:spLocks noGrp="1"/>
          </p:cNvSpPr>
          <p:nvPr>
            <p:ph type="sldNum" idx="12"/>
          </p:nvPr>
        </p:nvSpPr>
        <p:spPr>
          <a:xfrm>
            <a:off x="6042320" y="9493393"/>
            <a:ext cx="169918" cy="184666"/>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800"/>
              <a:buFont typeface="Calibri"/>
              <a:buNone/>
            </a:pPr>
            <a:fld id="{00000000-1234-1234-1234-123412341234}" type="slidenum">
              <a:rPr lang="en-AU" sz="1800" b="0" i="0" u="none" strike="noStrike" cap="none">
                <a:solidFill>
                  <a:srgbClr val="000000"/>
                </a:solidFill>
              </a:rPr>
              <a:t>1</a:t>
            </a:fld>
            <a:endParaRPr sz="1800" b="0" i="0" u="none" strike="noStrike" cap="none">
              <a:solidFill>
                <a:srgbClr val="000000"/>
              </a:solidFill>
            </a:endParaRPr>
          </a:p>
        </p:txBody>
      </p:sp>
      <p:sp>
        <p:nvSpPr>
          <p:cNvPr id="17" name="Google Shape;17;p1:notes"/>
          <p:cNvSpPr>
            <a:spLocks noGrp="1" noRot="1" noChangeAspect="1"/>
          </p:cNvSpPr>
          <p:nvPr>
            <p:ph type="sldImg" idx="2"/>
          </p:nvPr>
        </p:nvSpPr>
        <p:spPr>
          <a:xfrm>
            <a:off x="-2319338" y="1265238"/>
            <a:ext cx="11201401" cy="84010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8" name="Google Shape;18;p1:notes"/>
          <p:cNvSpPr txBox="1">
            <a:spLocks noGrp="1"/>
          </p:cNvSpPr>
          <p:nvPr>
            <p:ph type="body" idx="1"/>
          </p:nvPr>
        </p:nvSpPr>
        <p:spPr>
          <a:xfrm>
            <a:off x="789535" y="605318"/>
            <a:ext cx="5470797" cy="24622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AU" b="1"/>
              <a:t>Hypothesis: </a:t>
            </a:r>
            <a:r>
              <a:rPr lang="en-AU" sz="1200" b="0" i="1" u="none" strike="noStrike" cap="none">
                <a:solidFill>
                  <a:srgbClr val="000000"/>
                </a:solidFill>
                <a:latin typeface="Arial"/>
                <a:ea typeface="Arial"/>
                <a:cs typeface="Arial"/>
                <a:sym typeface="Arial"/>
              </a:rPr>
              <a:t>Create a Hypothesis with an emphasis on SMART principles. </a:t>
            </a:r>
            <a:r>
              <a:rPr lang="en-AU" sz="1200" b="1" i="1" u="none" strike="noStrike" cap="none">
                <a:solidFill>
                  <a:srgbClr val="000000"/>
                </a:solidFill>
                <a:latin typeface="Arial"/>
                <a:ea typeface="Arial"/>
                <a:cs typeface="Arial"/>
                <a:sym typeface="Arial"/>
              </a:rPr>
              <a:t>(</a:t>
            </a:r>
            <a:r>
              <a:rPr lang="en-AU" sz="1200" b="1" i="1"/>
              <a:t>S – Specific, M – Measurable, A – Achievable, R – Realistic, T – Timebound). </a:t>
            </a:r>
            <a:r>
              <a:rPr lang="en-AU" sz="1200" b="0" i="0"/>
              <a:t>If you cannot do this, you </a:t>
            </a:r>
            <a:r>
              <a:rPr lang="en-AU" sz="1200" b="1" i="0"/>
              <a:t>do not</a:t>
            </a:r>
            <a:r>
              <a:rPr lang="en-AU" sz="1200" b="0" i="0"/>
              <a:t> have a good grasp on the business problem.</a:t>
            </a:r>
            <a:endParaRPr b="1"/>
          </a:p>
          <a:p>
            <a:pPr marL="0" lvl="0" indent="0" algn="l" rtl="0">
              <a:lnSpc>
                <a:spcPct val="100000"/>
              </a:lnSpc>
              <a:spcBef>
                <a:spcPts val="0"/>
              </a:spcBef>
              <a:spcAft>
                <a:spcPts val="0"/>
              </a:spcAft>
              <a:buSzPts val="1400"/>
              <a:buNone/>
            </a:pPr>
            <a:endParaRPr/>
          </a:p>
          <a:p>
            <a:pPr marL="0" marR="0" lvl="0" indent="0" algn="l" rtl="0">
              <a:lnSpc>
                <a:spcPct val="100000"/>
              </a:lnSpc>
              <a:spcBef>
                <a:spcPts val="0"/>
              </a:spcBef>
              <a:spcAft>
                <a:spcPts val="0"/>
              </a:spcAft>
              <a:buClr>
                <a:srgbClr val="000000"/>
              </a:buClr>
              <a:buSzPts val="1400"/>
              <a:buFont typeface="Arial"/>
              <a:buNone/>
            </a:pPr>
            <a:r>
              <a:rPr lang="en-AU" b="1"/>
              <a:t>Context: </a:t>
            </a:r>
            <a:r>
              <a:rPr lang="en-AU" sz="1200"/>
              <a:t>With context, we have </a:t>
            </a:r>
            <a:r>
              <a:rPr lang="en-AU" sz="1200" b="1" u="sng"/>
              <a:t>clearly identified the problem at hand </a:t>
            </a:r>
            <a:r>
              <a:rPr lang="en-AU" sz="1200"/>
              <a:t>and have elucidated on how our initiative may solve this problem, alongside the commercial implications this will have on the business. </a:t>
            </a:r>
            <a:endParaRPr/>
          </a:p>
          <a:p>
            <a:pPr marL="0" lvl="0" indent="0" algn="l" rtl="0">
              <a:lnSpc>
                <a:spcPct val="100000"/>
              </a:lnSpc>
              <a:spcBef>
                <a:spcPts val="0"/>
              </a:spcBef>
              <a:spcAft>
                <a:spcPts val="0"/>
              </a:spcAft>
              <a:buSzPts val="1400"/>
              <a:buNone/>
            </a:pPr>
            <a:endParaRPr b="1"/>
          </a:p>
          <a:p>
            <a:pPr marL="0" lvl="0" indent="0" algn="l" rtl="0">
              <a:lnSpc>
                <a:spcPct val="100000"/>
              </a:lnSpc>
              <a:spcBef>
                <a:spcPts val="0"/>
              </a:spcBef>
              <a:spcAft>
                <a:spcPts val="0"/>
              </a:spcAft>
              <a:buSzPts val="1400"/>
              <a:buNone/>
            </a:pPr>
            <a:r>
              <a:rPr lang="en-AU" b="1"/>
              <a:t>Criteria for Success</a:t>
            </a:r>
            <a:r>
              <a:rPr lang="en-AU" b="0"/>
              <a:t>: Clearly defining the criteria for success ensures that the scope of your work is clearly defined and understood. Otherwise, if this isn’t defined – your work will never end which will result in mismatched expectations.</a:t>
            </a:r>
            <a:endParaRPr/>
          </a:p>
          <a:p>
            <a:pPr marL="0" lvl="0" indent="0" algn="l" rtl="0">
              <a:lnSpc>
                <a:spcPct val="100000"/>
              </a:lnSpc>
              <a:spcBef>
                <a:spcPts val="0"/>
              </a:spcBef>
              <a:spcAft>
                <a:spcPts val="0"/>
              </a:spcAft>
              <a:buSzPts val="1400"/>
              <a:buNone/>
            </a:pPr>
            <a:endParaRPr b="0"/>
          </a:p>
          <a:p>
            <a:pPr marL="0" lvl="0" indent="0" algn="l" rtl="0">
              <a:lnSpc>
                <a:spcPct val="100000"/>
              </a:lnSpc>
              <a:spcBef>
                <a:spcPts val="0"/>
              </a:spcBef>
              <a:spcAft>
                <a:spcPts val="0"/>
              </a:spcAft>
              <a:buSzPts val="1400"/>
              <a:buNone/>
            </a:pPr>
            <a:r>
              <a:rPr lang="en-AU" b="1"/>
              <a:t>Scope of Solution Space: </a:t>
            </a:r>
            <a:r>
              <a:rPr lang="en-AU" b="0"/>
              <a:t>Scoping out the solution space ensures that the business initiative is SPECIFIC for a certain segment or area. This prevents solutions that have been developed being scaled and applied for all other business units that the solution may not be responsible or scalable for.</a:t>
            </a:r>
            <a:endParaRPr/>
          </a:p>
          <a:p>
            <a:pPr marL="0" lvl="0" indent="0" algn="l" rtl="0">
              <a:lnSpc>
                <a:spcPct val="100000"/>
              </a:lnSpc>
              <a:spcBef>
                <a:spcPts val="0"/>
              </a:spcBef>
              <a:spcAft>
                <a:spcPts val="0"/>
              </a:spcAft>
              <a:buSzPts val="1400"/>
              <a:buNone/>
            </a:pPr>
            <a:endParaRPr b="0"/>
          </a:p>
          <a:p>
            <a:pPr marL="0" lvl="0" indent="0" algn="l" rtl="0">
              <a:lnSpc>
                <a:spcPct val="100000"/>
              </a:lnSpc>
              <a:spcBef>
                <a:spcPts val="0"/>
              </a:spcBef>
              <a:spcAft>
                <a:spcPts val="0"/>
              </a:spcAft>
              <a:buSzPts val="1400"/>
              <a:buNone/>
            </a:pPr>
            <a:r>
              <a:rPr lang="en-AU" b="1"/>
              <a:t>Constraints within Solution Space: </a:t>
            </a:r>
            <a:r>
              <a:rPr lang="en-AU" b="0"/>
              <a:t>Looking forward, what are the foreseeable problems we are likely to encounter? Could this be stakeholder resistance? Could this be we don’t have access to the right data? </a:t>
            </a:r>
            <a:endParaRPr/>
          </a:p>
          <a:p>
            <a:pPr marL="0" lvl="0" indent="0" algn="l" rtl="0">
              <a:lnSpc>
                <a:spcPct val="100000"/>
              </a:lnSpc>
              <a:spcBef>
                <a:spcPts val="0"/>
              </a:spcBef>
              <a:spcAft>
                <a:spcPts val="0"/>
              </a:spcAft>
              <a:buSzPts val="1400"/>
              <a:buNone/>
            </a:pPr>
            <a:endParaRPr b="0"/>
          </a:p>
          <a:p>
            <a:pPr marL="0" lvl="0" indent="0" algn="l" rtl="0">
              <a:lnSpc>
                <a:spcPct val="100000"/>
              </a:lnSpc>
              <a:spcBef>
                <a:spcPts val="0"/>
              </a:spcBef>
              <a:spcAft>
                <a:spcPts val="0"/>
              </a:spcAft>
              <a:buSzPts val="1400"/>
              <a:buNone/>
            </a:pPr>
            <a:r>
              <a:rPr lang="en-AU" b="1"/>
              <a:t>Stakeholders to provide key insight: </a:t>
            </a:r>
            <a:r>
              <a:rPr lang="en-AU" b="0"/>
              <a:t>Who are the people I need to speak to, to get the answers I need for my data analysis?</a:t>
            </a:r>
            <a:endParaRPr/>
          </a:p>
          <a:p>
            <a:pPr marL="0" lvl="0" indent="0" algn="l" rtl="0">
              <a:lnSpc>
                <a:spcPct val="100000"/>
              </a:lnSpc>
              <a:spcBef>
                <a:spcPts val="0"/>
              </a:spcBef>
              <a:spcAft>
                <a:spcPts val="0"/>
              </a:spcAft>
              <a:buSzPts val="1400"/>
              <a:buNone/>
            </a:pPr>
            <a:endParaRPr b="0"/>
          </a:p>
          <a:p>
            <a:pPr marL="0" lvl="0" indent="0" algn="l" rtl="0">
              <a:lnSpc>
                <a:spcPct val="100000"/>
              </a:lnSpc>
              <a:spcBef>
                <a:spcPts val="0"/>
              </a:spcBef>
              <a:spcAft>
                <a:spcPts val="0"/>
              </a:spcAft>
              <a:buSzPts val="1400"/>
              <a:buNone/>
            </a:pPr>
            <a:r>
              <a:rPr lang="en-AU" b="1"/>
              <a:t>What key data sources are required</a:t>
            </a:r>
            <a:r>
              <a:rPr lang="en-AU" b="0"/>
              <a:t>?</a:t>
            </a:r>
            <a:endParaRPr/>
          </a:p>
          <a:p>
            <a:pPr marL="0" lvl="0" indent="0" algn="l" rtl="0">
              <a:lnSpc>
                <a:spcPct val="100000"/>
              </a:lnSpc>
              <a:spcBef>
                <a:spcPts val="0"/>
              </a:spcBef>
              <a:spcAft>
                <a:spcPts val="0"/>
              </a:spcAft>
              <a:buSzPts val="1400"/>
              <a:buNone/>
            </a:pPr>
            <a:r>
              <a:rPr lang="en-AU" b="0"/>
              <a:t>Based off my discussions with the key stakeholders – can we clearly list out all the data sources we need so we can make a highly targeted request as opposed to a scatter-gun approach where we ask for a bit of everything?</a:t>
            </a:r>
            <a:endParaRPr/>
          </a:p>
          <a:p>
            <a:pPr marL="0" lvl="0" indent="0" algn="l" rtl="0">
              <a:lnSpc>
                <a:spcPct val="100000"/>
              </a:lnSpc>
              <a:spcBef>
                <a:spcPts val="0"/>
              </a:spcBef>
              <a:spcAft>
                <a:spcPts val="0"/>
              </a:spcAft>
              <a:buSzPts val="1400"/>
              <a:buNone/>
            </a:pPr>
            <a:endParaRPr b="1"/>
          </a:p>
          <a:p>
            <a:pPr marL="0" lvl="0" indent="0" algn="l" rtl="0">
              <a:lnSpc>
                <a:spcPct val="100000"/>
              </a:lnSpc>
              <a:spcBef>
                <a:spcPts val="0"/>
              </a:spcBef>
              <a:spcAft>
                <a:spcPts val="0"/>
              </a:spcAft>
              <a:buSzPts val="1400"/>
              <a:buNone/>
            </a:pPr>
            <a:endParaRPr b="1"/>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174945" y="234863"/>
            <a:ext cx="8794113" cy="298327"/>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2"/>
          <p:cNvSpPr/>
          <p:nvPr/>
        </p:nvSpPr>
        <p:spPr>
          <a:xfrm>
            <a:off x="8298444" y="37255"/>
            <a:ext cx="670614" cy="124720"/>
          </a:xfrm>
          <a:prstGeom prst="rect">
            <a:avLst/>
          </a:prstGeom>
          <a:noFill/>
          <a:ln>
            <a:noFill/>
          </a:ln>
        </p:spPr>
        <p:txBody>
          <a:bodyPr spcFirstLastPara="1" wrap="square" lIns="0" tIns="0" rIns="0" bIns="0" anchor="t" anchorCtr="0">
            <a:noAutofit/>
          </a:bodyPr>
          <a:lstStyle/>
          <a:p>
            <a:pPr marL="0" marR="0" lvl="0" indent="0" algn="r" rtl="0">
              <a:lnSpc>
                <a:spcPct val="100000"/>
              </a:lnSpc>
              <a:spcBef>
                <a:spcPts val="0"/>
              </a:spcBef>
              <a:spcAft>
                <a:spcPts val="0"/>
              </a:spcAft>
              <a:buClr>
                <a:srgbClr val="000000"/>
              </a:buClr>
              <a:buSzPts val="816"/>
              <a:buFont typeface="Arial"/>
              <a:buNone/>
            </a:pPr>
            <a:endParaRPr sz="816" b="0" i="0" u="none" strike="noStrike" cap="none">
              <a:solidFill>
                <a:srgbClr val="000000"/>
              </a:solidFill>
              <a:latin typeface="Arial"/>
              <a:ea typeface="Arial"/>
              <a:cs typeface="Arial"/>
              <a:sym typeface="Arial"/>
            </a:endParaRPr>
          </a:p>
        </p:txBody>
      </p:sp>
      <p:sp>
        <p:nvSpPr>
          <p:cNvPr id="11" name="Google Shape;11;p2"/>
          <p:cNvSpPr txBox="1">
            <a:spLocks noGrp="1"/>
          </p:cNvSpPr>
          <p:nvPr>
            <p:ph type="body" idx="1"/>
          </p:nvPr>
        </p:nvSpPr>
        <p:spPr>
          <a:xfrm>
            <a:off x="2343099" y="2570857"/>
            <a:ext cx="4389768" cy="1256112"/>
          </a:xfrm>
          <a:prstGeom prst="rect">
            <a:avLst/>
          </a:prstGeom>
          <a:noFill/>
          <a:ln>
            <a:noFill/>
          </a:ln>
        </p:spPr>
        <p:txBody>
          <a:bodyPr spcFirstLastPara="1" wrap="square" lIns="0" tIns="0" rIns="0" bIns="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632" b="0" i="0" u="none" strike="noStrike" cap="none">
                <a:solidFill>
                  <a:schemeClr val="dk1"/>
                </a:solidFill>
                <a:latin typeface="Arial"/>
                <a:ea typeface="Arial"/>
                <a:cs typeface="Arial"/>
                <a:sym typeface="Arial"/>
              </a:defRPr>
            </a:lvl1pPr>
            <a:lvl2pPr marL="914400" marR="0" lvl="1" indent="-358140" algn="l" rtl="0">
              <a:lnSpc>
                <a:spcPct val="100000"/>
              </a:lnSpc>
              <a:spcBef>
                <a:spcPts val="0"/>
              </a:spcBef>
              <a:spcAft>
                <a:spcPts val="0"/>
              </a:spcAft>
              <a:buClr>
                <a:schemeClr val="dk2"/>
              </a:buClr>
              <a:buSzPts val="2040"/>
              <a:buFont typeface="Arial"/>
              <a:buChar char="▪"/>
              <a:defRPr sz="1632" b="0" i="0" u="none" strike="noStrike" cap="none">
                <a:solidFill>
                  <a:schemeClr val="dk1"/>
                </a:solidFill>
                <a:latin typeface="Arial"/>
                <a:ea typeface="Arial"/>
                <a:cs typeface="Arial"/>
                <a:sym typeface="Arial"/>
              </a:defRPr>
            </a:lvl2pPr>
            <a:lvl3pPr marL="1371600" marR="0" lvl="2" indent="-352933" algn="l" rtl="0">
              <a:lnSpc>
                <a:spcPct val="100000"/>
              </a:lnSpc>
              <a:spcBef>
                <a:spcPts val="0"/>
              </a:spcBef>
              <a:spcAft>
                <a:spcPts val="0"/>
              </a:spcAft>
              <a:buClr>
                <a:schemeClr val="dk2"/>
              </a:buClr>
              <a:buSzPts val="1958"/>
              <a:buFont typeface="Arial"/>
              <a:buChar char="–"/>
              <a:defRPr sz="1632" b="0" i="0" u="none" strike="noStrike" cap="none">
                <a:solidFill>
                  <a:schemeClr val="dk1"/>
                </a:solidFill>
                <a:latin typeface="Arial"/>
                <a:ea typeface="Arial"/>
                <a:cs typeface="Arial"/>
                <a:sym typeface="Arial"/>
              </a:defRPr>
            </a:lvl3pPr>
            <a:lvl4pPr marL="1828800" marR="0" lvl="3" indent="-352933" algn="l" rtl="0">
              <a:lnSpc>
                <a:spcPct val="100000"/>
              </a:lnSpc>
              <a:spcBef>
                <a:spcPts val="0"/>
              </a:spcBef>
              <a:spcAft>
                <a:spcPts val="0"/>
              </a:spcAft>
              <a:buClr>
                <a:schemeClr val="dk2"/>
              </a:buClr>
              <a:buSzPts val="1958"/>
              <a:buFont typeface="Arial"/>
              <a:buChar char="▫"/>
              <a:defRPr sz="1632" b="0" i="0" u="none" strike="noStrike" cap="none">
                <a:solidFill>
                  <a:schemeClr val="dk1"/>
                </a:solidFill>
                <a:latin typeface="Arial"/>
                <a:ea typeface="Arial"/>
                <a:cs typeface="Arial"/>
                <a:sym typeface="Arial"/>
              </a:defRPr>
            </a:lvl4pPr>
            <a:lvl5pPr marL="2286000" marR="0" lvl="4" indent="-320801" algn="l" rtl="0">
              <a:lnSpc>
                <a:spcPct val="100000"/>
              </a:lnSpc>
              <a:spcBef>
                <a:spcPts val="0"/>
              </a:spcBef>
              <a:spcAft>
                <a:spcPts val="0"/>
              </a:spcAft>
              <a:buClr>
                <a:schemeClr val="dk2"/>
              </a:buClr>
              <a:buSzPts val="1452"/>
              <a:buFont typeface="Arial"/>
              <a:buChar char="-"/>
              <a:defRPr sz="1632" b="0" i="0" u="none" strike="noStrike" cap="none">
                <a:solidFill>
                  <a:schemeClr val="dk1"/>
                </a:solidFill>
                <a:latin typeface="Arial"/>
                <a:ea typeface="Arial"/>
                <a:cs typeface="Arial"/>
                <a:sym typeface="Arial"/>
              </a:defRPr>
            </a:lvl5pPr>
            <a:lvl6pPr marL="2743200" marR="0" lvl="5" indent="-320801" algn="l" rtl="0">
              <a:lnSpc>
                <a:spcPct val="100000"/>
              </a:lnSpc>
              <a:spcBef>
                <a:spcPts val="0"/>
              </a:spcBef>
              <a:spcAft>
                <a:spcPts val="0"/>
              </a:spcAft>
              <a:buClr>
                <a:schemeClr val="dk2"/>
              </a:buClr>
              <a:buSzPts val="1452"/>
              <a:buFont typeface="Arial"/>
              <a:buChar char="-"/>
              <a:defRPr sz="1632" b="0" i="0" u="none" strike="noStrike" cap="none">
                <a:solidFill>
                  <a:schemeClr val="dk1"/>
                </a:solidFill>
                <a:latin typeface="Arial"/>
                <a:ea typeface="Arial"/>
                <a:cs typeface="Arial"/>
                <a:sym typeface="Arial"/>
              </a:defRPr>
            </a:lvl6pPr>
            <a:lvl7pPr marL="3200400" marR="0" lvl="6" indent="-320801" algn="l" rtl="0">
              <a:lnSpc>
                <a:spcPct val="100000"/>
              </a:lnSpc>
              <a:spcBef>
                <a:spcPts val="0"/>
              </a:spcBef>
              <a:spcAft>
                <a:spcPts val="0"/>
              </a:spcAft>
              <a:buClr>
                <a:schemeClr val="dk2"/>
              </a:buClr>
              <a:buSzPts val="1452"/>
              <a:buFont typeface="Arial"/>
              <a:buChar char="-"/>
              <a:defRPr sz="1632" b="0" i="0" u="none" strike="noStrike" cap="none">
                <a:solidFill>
                  <a:schemeClr val="dk1"/>
                </a:solidFill>
                <a:latin typeface="Arial"/>
                <a:ea typeface="Arial"/>
                <a:cs typeface="Arial"/>
                <a:sym typeface="Arial"/>
              </a:defRPr>
            </a:lvl7pPr>
            <a:lvl8pPr marL="3657600" marR="0" lvl="7" indent="-320802" algn="l" rtl="0">
              <a:lnSpc>
                <a:spcPct val="100000"/>
              </a:lnSpc>
              <a:spcBef>
                <a:spcPts val="0"/>
              </a:spcBef>
              <a:spcAft>
                <a:spcPts val="0"/>
              </a:spcAft>
              <a:buClr>
                <a:schemeClr val="dk2"/>
              </a:buClr>
              <a:buSzPts val="1452"/>
              <a:buFont typeface="Arial"/>
              <a:buChar char="-"/>
              <a:defRPr sz="1632" b="0" i="0" u="none" strike="noStrike" cap="none">
                <a:solidFill>
                  <a:schemeClr val="dk1"/>
                </a:solidFill>
                <a:latin typeface="Arial"/>
                <a:ea typeface="Arial"/>
                <a:cs typeface="Arial"/>
                <a:sym typeface="Arial"/>
              </a:defRPr>
            </a:lvl8pPr>
            <a:lvl9pPr marL="4114800" marR="0" lvl="8" indent="-320802" algn="l" rtl="0">
              <a:lnSpc>
                <a:spcPct val="100000"/>
              </a:lnSpc>
              <a:spcBef>
                <a:spcPts val="0"/>
              </a:spcBef>
              <a:spcAft>
                <a:spcPts val="0"/>
              </a:spcAft>
              <a:buClr>
                <a:schemeClr val="dk2"/>
              </a:buClr>
              <a:buSzPts val="1452"/>
              <a:buFont typeface="Arial"/>
              <a:buChar char="-"/>
              <a:defRPr sz="1632" b="0" i="0" u="none" strike="noStrike" cap="none">
                <a:solidFill>
                  <a:schemeClr val="dk1"/>
                </a:solidFill>
                <a:latin typeface="Arial"/>
                <a:ea typeface="Arial"/>
                <a:cs typeface="Arial"/>
                <a:sym typeface="Arial"/>
              </a:defRPr>
            </a:lvl9pPr>
          </a:lstStyle>
          <a:p>
            <a:endParaRPr/>
          </a:p>
        </p:txBody>
      </p:sp>
      <p:sp>
        <p:nvSpPr>
          <p:cNvPr id="12" name="Google Shape;12;p2"/>
          <p:cNvSpPr txBox="1">
            <a:spLocks noGrp="1"/>
          </p:cNvSpPr>
          <p:nvPr>
            <p:ph type="title"/>
          </p:nvPr>
        </p:nvSpPr>
        <p:spPr>
          <a:xfrm>
            <a:off x="174945" y="234863"/>
            <a:ext cx="8794113" cy="298327"/>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Clr>
                <a:srgbClr val="000000"/>
              </a:buClr>
              <a:buSzPts val="1400"/>
              <a:buFont typeface="Arial"/>
              <a:buNone/>
              <a:defRPr sz="1939" b="1"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939" b="1" i="0" u="none" strike="noStrike" cap="none">
                <a:solidFill>
                  <a:schemeClr val="dk2"/>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939" b="1" i="0" u="none" strike="noStrike" cap="none">
                <a:solidFill>
                  <a:schemeClr val="dk2"/>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939" b="1" i="0" u="none" strike="noStrike" cap="none">
                <a:solidFill>
                  <a:schemeClr val="dk2"/>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939" b="1" i="0" u="none" strike="noStrike" cap="none">
                <a:solidFill>
                  <a:schemeClr val="dk2"/>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939" b="1" i="0" u="none" strike="noStrike" cap="none">
                <a:solidFill>
                  <a:schemeClr val="dk2"/>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939" b="1" i="0" u="none" strike="noStrike" cap="none">
                <a:solidFill>
                  <a:schemeClr val="dk2"/>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939" b="1" i="0" u="none" strike="noStrike" cap="none">
                <a:solidFill>
                  <a:schemeClr val="dk2"/>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939" b="1" i="0" u="none" strike="noStrike" cap="none">
                <a:solidFill>
                  <a:schemeClr val="dk2"/>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sldLayoutIdLst>
    <p:sldLayoutId id="2147483649"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9"/>
        <p:cNvGrpSpPr/>
        <p:nvPr/>
      </p:nvGrpSpPr>
      <p:grpSpPr>
        <a:xfrm>
          <a:off x="0" y="0"/>
          <a:ext cx="0" cy="0"/>
          <a:chOff x="0" y="0"/>
          <a:chExt cx="0" cy="0"/>
        </a:xfrm>
      </p:grpSpPr>
      <p:sp>
        <p:nvSpPr>
          <p:cNvPr id="20" name="Google Shape;20;p1"/>
          <p:cNvSpPr/>
          <p:nvPr/>
        </p:nvSpPr>
        <p:spPr>
          <a:xfrm>
            <a:off x="137949" y="1576013"/>
            <a:ext cx="4344156" cy="4681063"/>
          </a:xfrm>
          <a:prstGeom prst="rect">
            <a:avLst/>
          </a:prstGeom>
          <a:solidFill>
            <a:schemeClr val="lt1"/>
          </a:solidFill>
          <a:ln w="19050" cap="flat" cmpd="sng">
            <a:solidFill>
              <a:schemeClr val="accent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28"/>
              <a:buFont typeface="Arial"/>
              <a:buNone/>
            </a:pPr>
            <a:endParaRPr sz="1428" b="0" i="0" u="none" strike="noStrike" cap="none">
              <a:solidFill>
                <a:srgbClr val="000000"/>
              </a:solidFill>
              <a:latin typeface="Arial"/>
              <a:ea typeface="Arial"/>
              <a:cs typeface="Arial"/>
              <a:sym typeface="Arial"/>
            </a:endParaRPr>
          </a:p>
        </p:txBody>
      </p:sp>
      <p:sp>
        <p:nvSpPr>
          <p:cNvPr id="21" name="Google Shape;21;p1"/>
          <p:cNvSpPr/>
          <p:nvPr/>
        </p:nvSpPr>
        <p:spPr>
          <a:xfrm>
            <a:off x="4587388" y="1576013"/>
            <a:ext cx="4344156" cy="4681063"/>
          </a:xfrm>
          <a:prstGeom prst="rect">
            <a:avLst/>
          </a:prstGeom>
          <a:solidFill>
            <a:schemeClr val="lt1"/>
          </a:solidFill>
          <a:ln w="19050" cap="flat" cmpd="sng">
            <a:solidFill>
              <a:schemeClr val="accent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28"/>
              <a:buFont typeface="Arial"/>
              <a:buNone/>
            </a:pPr>
            <a:endParaRPr sz="1428" b="0" i="0" u="none" strike="noStrike" cap="none">
              <a:solidFill>
                <a:srgbClr val="000000"/>
              </a:solidFill>
              <a:latin typeface="Arial"/>
              <a:ea typeface="Arial"/>
              <a:cs typeface="Arial"/>
              <a:sym typeface="Arial"/>
            </a:endParaRPr>
          </a:p>
        </p:txBody>
      </p:sp>
      <p:sp>
        <p:nvSpPr>
          <p:cNvPr id="22" name="Google Shape;22;p1"/>
          <p:cNvSpPr/>
          <p:nvPr/>
        </p:nvSpPr>
        <p:spPr>
          <a:xfrm>
            <a:off x="218936" y="1618127"/>
            <a:ext cx="288315" cy="288315"/>
          </a:xfrm>
          <a:prstGeom prst="rect">
            <a:avLst/>
          </a:prstGeom>
          <a:solidFill>
            <a:srgbClr val="F1A205"/>
          </a:solidFill>
          <a:ln>
            <a:noFill/>
          </a:ln>
        </p:spPr>
        <p:txBody>
          <a:bodyPr spcFirstLastPara="1" wrap="square" lIns="47575" tIns="47575" rIns="47575" bIns="47575" anchor="ctr" anchorCtr="0">
            <a:noAutofit/>
          </a:bodyPr>
          <a:lstStyle/>
          <a:p>
            <a:pPr marL="0" marR="0" lvl="0" indent="0" algn="l" rtl="0">
              <a:lnSpc>
                <a:spcPct val="100000"/>
              </a:lnSpc>
              <a:spcBef>
                <a:spcPts val="0"/>
              </a:spcBef>
              <a:spcAft>
                <a:spcPts val="0"/>
              </a:spcAft>
              <a:buClr>
                <a:srgbClr val="000000"/>
              </a:buClr>
              <a:buSzPts val="1428"/>
              <a:buFont typeface="Arial"/>
              <a:buNone/>
            </a:pPr>
            <a:r>
              <a:rPr lang="en-AU" sz="1428" b="0" i="0" u="none" strike="noStrike" cap="none">
                <a:solidFill>
                  <a:schemeClr val="lt1"/>
                </a:solidFill>
                <a:latin typeface="Arial"/>
                <a:ea typeface="Arial"/>
                <a:cs typeface="Arial"/>
                <a:sym typeface="Arial"/>
              </a:rPr>
              <a:t>1</a:t>
            </a:r>
            <a:endParaRPr sz="1428" b="0" i="0" u="none" strike="noStrike" cap="none">
              <a:solidFill>
                <a:schemeClr val="lt1"/>
              </a:solidFill>
              <a:latin typeface="Arial"/>
              <a:ea typeface="Arial"/>
              <a:cs typeface="Arial"/>
              <a:sym typeface="Arial"/>
            </a:endParaRPr>
          </a:p>
        </p:txBody>
      </p:sp>
      <p:sp>
        <p:nvSpPr>
          <p:cNvPr id="23" name="Google Shape;23;p1"/>
          <p:cNvSpPr/>
          <p:nvPr/>
        </p:nvSpPr>
        <p:spPr>
          <a:xfrm>
            <a:off x="4668375" y="1618127"/>
            <a:ext cx="288315" cy="288315"/>
          </a:xfrm>
          <a:prstGeom prst="rect">
            <a:avLst/>
          </a:prstGeom>
          <a:solidFill>
            <a:srgbClr val="F1A205"/>
          </a:solidFill>
          <a:ln>
            <a:noFill/>
          </a:ln>
        </p:spPr>
        <p:txBody>
          <a:bodyPr spcFirstLastPara="1" wrap="square" lIns="47575" tIns="47575" rIns="47575" bIns="47575" anchor="ctr" anchorCtr="0">
            <a:noAutofit/>
          </a:bodyPr>
          <a:lstStyle/>
          <a:p>
            <a:pPr marL="0" marR="0" lvl="0" indent="0" algn="l" rtl="0">
              <a:lnSpc>
                <a:spcPct val="100000"/>
              </a:lnSpc>
              <a:spcBef>
                <a:spcPts val="0"/>
              </a:spcBef>
              <a:spcAft>
                <a:spcPts val="0"/>
              </a:spcAft>
              <a:buClr>
                <a:srgbClr val="000000"/>
              </a:buClr>
              <a:buSzPts val="1428"/>
              <a:buFont typeface="Arial"/>
              <a:buNone/>
            </a:pPr>
            <a:r>
              <a:rPr lang="en-AU" sz="1428" b="0" i="0" u="none" strike="noStrike" cap="none">
                <a:solidFill>
                  <a:schemeClr val="lt1"/>
                </a:solidFill>
                <a:latin typeface="Arial"/>
                <a:ea typeface="Arial"/>
                <a:cs typeface="Arial"/>
                <a:sym typeface="Arial"/>
              </a:rPr>
              <a:t>4</a:t>
            </a:r>
            <a:endParaRPr sz="1400" b="0" i="0" u="none" strike="noStrike" cap="none">
              <a:solidFill>
                <a:srgbClr val="000000"/>
              </a:solidFill>
              <a:latin typeface="Arial"/>
              <a:ea typeface="Arial"/>
              <a:cs typeface="Arial"/>
              <a:sym typeface="Arial"/>
            </a:endParaRPr>
          </a:p>
        </p:txBody>
      </p:sp>
      <p:sp>
        <p:nvSpPr>
          <p:cNvPr id="24" name="Google Shape;24;p1"/>
          <p:cNvSpPr/>
          <p:nvPr/>
        </p:nvSpPr>
        <p:spPr>
          <a:xfrm>
            <a:off x="601195" y="1650181"/>
            <a:ext cx="3597454" cy="224203"/>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428"/>
              <a:buFont typeface="Arial"/>
              <a:buNone/>
            </a:pPr>
            <a:r>
              <a:rPr lang="en-AU" sz="1428" b="0" i="0" u="none" strike="noStrike" cap="none">
                <a:solidFill>
                  <a:schemeClr val="dk1"/>
                </a:solidFill>
                <a:latin typeface="Arial"/>
                <a:ea typeface="Arial"/>
                <a:cs typeface="Arial"/>
                <a:sym typeface="Arial"/>
              </a:rPr>
              <a:t>Context</a:t>
            </a:r>
            <a:endParaRPr sz="1400" b="0" i="0" u="none" strike="noStrike" cap="none">
              <a:solidFill>
                <a:srgbClr val="000000"/>
              </a:solidFill>
              <a:latin typeface="Arial"/>
              <a:ea typeface="Arial"/>
              <a:cs typeface="Arial"/>
              <a:sym typeface="Arial"/>
            </a:endParaRPr>
          </a:p>
        </p:txBody>
      </p:sp>
      <p:sp>
        <p:nvSpPr>
          <p:cNvPr id="25" name="Google Shape;25;p1"/>
          <p:cNvSpPr/>
          <p:nvPr/>
        </p:nvSpPr>
        <p:spPr>
          <a:xfrm>
            <a:off x="5050634" y="1650181"/>
            <a:ext cx="3597454" cy="224203"/>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428"/>
              <a:buFont typeface="Arial"/>
              <a:buNone/>
            </a:pPr>
            <a:r>
              <a:rPr lang="en-AU" sz="1428" b="0" i="0" u="none" strike="noStrike" cap="none">
                <a:solidFill>
                  <a:schemeClr val="dk1"/>
                </a:solidFill>
                <a:latin typeface="Arial"/>
                <a:ea typeface="Arial"/>
                <a:cs typeface="Arial"/>
                <a:sym typeface="Arial"/>
              </a:rPr>
              <a:t>Constraints within solution space</a:t>
            </a:r>
            <a:endParaRPr sz="1400" b="0" i="0" u="none" strike="noStrike" cap="none">
              <a:solidFill>
                <a:srgbClr val="000000"/>
              </a:solidFill>
              <a:latin typeface="Arial"/>
              <a:ea typeface="Arial"/>
              <a:cs typeface="Arial"/>
              <a:sym typeface="Arial"/>
            </a:endParaRPr>
          </a:p>
        </p:txBody>
      </p:sp>
      <p:sp>
        <p:nvSpPr>
          <p:cNvPr id="26" name="Google Shape;26;p1"/>
          <p:cNvSpPr/>
          <p:nvPr/>
        </p:nvSpPr>
        <p:spPr>
          <a:xfrm>
            <a:off x="4668375" y="3207096"/>
            <a:ext cx="288315" cy="288315"/>
          </a:xfrm>
          <a:prstGeom prst="rect">
            <a:avLst/>
          </a:prstGeom>
          <a:solidFill>
            <a:srgbClr val="F1A205"/>
          </a:solidFill>
          <a:ln>
            <a:noFill/>
          </a:ln>
        </p:spPr>
        <p:txBody>
          <a:bodyPr spcFirstLastPara="1" wrap="square" lIns="47575" tIns="47575" rIns="47575" bIns="47575" anchor="ctr" anchorCtr="0">
            <a:noAutofit/>
          </a:bodyPr>
          <a:lstStyle/>
          <a:p>
            <a:pPr marL="0" marR="0" lvl="0" indent="0" algn="l" rtl="0">
              <a:lnSpc>
                <a:spcPct val="100000"/>
              </a:lnSpc>
              <a:spcBef>
                <a:spcPts val="0"/>
              </a:spcBef>
              <a:spcAft>
                <a:spcPts val="0"/>
              </a:spcAft>
              <a:buClr>
                <a:srgbClr val="000000"/>
              </a:buClr>
              <a:buSzPts val="1428"/>
              <a:buFont typeface="Arial"/>
              <a:buNone/>
            </a:pPr>
            <a:r>
              <a:rPr lang="en-AU" sz="1428" b="0" i="0" u="none" strike="noStrike" cap="none">
                <a:solidFill>
                  <a:schemeClr val="lt1"/>
                </a:solidFill>
                <a:latin typeface="Arial"/>
                <a:ea typeface="Arial"/>
                <a:cs typeface="Arial"/>
                <a:sym typeface="Arial"/>
              </a:rPr>
              <a:t>5</a:t>
            </a:r>
            <a:endParaRPr sz="1400" b="0" i="0" u="none" strike="noStrike" cap="none">
              <a:solidFill>
                <a:srgbClr val="000000"/>
              </a:solidFill>
              <a:latin typeface="Arial"/>
              <a:ea typeface="Arial"/>
              <a:cs typeface="Arial"/>
              <a:sym typeface="Arial"/>
            </a:endParaRPr>
          </a:p>
        </p:txBody>
      </p:sp>
      <p:sp>
        <p:nvSpPr>
          <p:cNvPr id="27" name="Google Shape;27;p1"/>
          <p:cNvSpPr/>
          <p:nvPr/>
        </p:nvSpPr>
        <p:spPr>
          <a:xfrm>
            <a:off x="261350" y="2835048"/>
            <a:ext cx="288315" cy="288315"/>
          </a:xfrm>
          <a:prstGeom prst="rect">
            <a:avLst/>
          </a:prstGeom>
          <a:solidFill>
            <a:srgbClr val="F1A205"/>
          </a:solidFill>
          <a:ln>
            <a:noFill/>
          </a:ln>
        </p:spPr>
        <p:txBody>
          <a:bodyPr spcFirstLastPara="1" wrap="square" lIns="47575" tIns="47575" rIns="47575" bIns="47575" anchor="ctr" anchorCtr="0">
            <a:noAutofit/>
          </a:bodyPr>
          <a:lstStyle/>
          <a:p>
            <a:pPr marL="0" marR="0" lvl="0" indent="0" algn="l" rtl="0">
              <a:lnSpc>
                <a:spcPct val="100000"/>
              </a:lnSpc>
              <a:spcBef>
                <a:spcPts val="0"/>
              </a:spcBef>
              <a:spcAft>
                <a:spcPts val="0"/>
              </a:spcAft>
              <a:buClr>
                <a:srgbClr val="000000"/>
              </a:buClr>
              <a:buSzPts val="1428"/>
              <a:buFont typeface="Arial"/>
              <a:buNone/>
            </a:pPr>
            <a:r>
              <a:rPr lang="en-AU" sz="1428" b="0" i="0" u="none" strike="noStrike" cap="none">
                <a:solidFill>
                  <a:schemeClr val="lt1"/>
                </a:solidFill>
                <a:latin typeface="Arial"/>
                <a:ea typeface="Arial"/>
                <a:cs typeface="Arial"/>
                <a:sym typeface="Arial"/>
              </a:rPr>
              <a:t>2</a:t>
            </a:r>
            <a:endParaRPr sz="1400" b="0" i="0" u="none" strike="noStrike" cap="none">
              <a:solidFill>
                <a:srgbClr val="000000"/>
              </a:solidFill>
              <a:latin typeface="Arial"/>
              <a:ea typeface="Arial"/>
              <a:cs typeface="Arial"/>
              <a:sym typeface="Arial"/>
            </a:endParaRPr>
          </a:p>
        </p:txBody>
      </p:sp>
      <p:sp>
        <p:nvSpPr>
          <p:cNvPr id="28" name="Google Shape;28;p1"/>
          <p:cNvSpPr/>
          <p:nvPr/>
        </p:nvSpPr>
        <p:spPr>
          <a:xfrm>
            <a:off x="601195" y="2880401"/>
            <a:ext cx="3597454" cy="224203"/>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428"/>
              <a:buFont typeface="Arial"/>
              <a:buNone/>
            </a:pPr>
            <a:r>
              <a:rPr lang="en-AU" sz="1428" b="0" i="0" u="none" strike="noStrike" cap="none" dirty="0">
                <a:solidFill>
                  <a:schemeClr val="dk1"/>
                </a:solidFill>
                <a:latin typeface="Arial"/>
                <a:ea typeface="Arial"/>
                <a:cs typeface="Arial"/>
                <a:sym typeface="Arial"/>
              </a:rPr>
              <a:t>Criteria for success</a:t>
            </a:r>
            <a:endParaRPr sz="1400" b="0" i="0" u="none" strike="noStrike" cap="none" dirty="0">
              <a:solidFill>
                <a:srgbClr val="000000"/>
              </a:solidFill>
              <a:latin typeface="Arial"/>
              <a:ea typeface="Arial"/>
              <a:cs typeface="Arial"/>
              <a:sym typeface="Arial"/>
            </a:endParaRPr>
          </a:p>
        </p:txBody>
      </p:sp>
      <p:sp>
        <p:nvSpPr>
          <p:cNvPr id="29" name="Google Shape;29;p1"/>
          <p:cNvSpPr/>
          <p:nvPr/>
        </p:nvSpPr>
        <p:spPr>
          <a:xfrm>
            <a:off x="5050634" y="3239152"/>
            <a:ext cx="3597454" cy="224203"/>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428"/>
              <a:buFont typeface="Arial"/>
              <a:buNone/>
            </a:pPr>
            <a:r>
              <a:rPr lang="en-AU" sz="1428" b="0" i="0" u="none" strike="noStrike" cap="none">
                <a:solidFill>
                  <a:schemeClr val="dk1"/>
                </a:solidFill>
                <a:latin typeface="Arial"/>
                <a:ea typeface="Arial"/>
                <a:cs typeface="Arial"/>
                <a:sym typeface="Arial"/>
              </a:rPr>
              <a:t>Stakeholders to provide key insight</a:t>
            </a:r>
            <a:endParaRPr sz="1400" b="0" i="0" u="none" strike="noStrike" cap="none">
              <a:solidFill>
                <a:srgbClr val="000000"/>
              </a:solidFill>
              <a:latin typeface="Arial"/>
              <a:ea typeface="Arial"/>
              <a:cs typeface="Arial"/>
              <a:sym typeface="Arial"/>
            </a:endParaRPr>
          </a:p>
        </p:txBody>
      </p:sp>
      <p:sp>
        <p:nvSpPr>
          <p:cNvPr id="30" name="Google Shape;30;p1"/>
          <p:cNvSpPr/>
          <p:nvPr/>
        </p:nvSpPr>
        <p:spPr>
          <a:xfrm>
            <a:off x="184140" y="4382671"/>
            <a:ext cx="288315" cy="288315"/>
          </a:xfrm>
          <a:prstGeom prst="rect">
            <a:avLst/>
          </a:prstGeom>
          <a:solidFill>
            <a:srgbClr val="F1A205"/>
          </a:solidFill>
          <a:ln>
            <a:noFill/>
          </a:ln>
        </p:spPr>
        <p:txBody>
          <a:bodyPr spcFirstLastPara="1" wrap="square" lIns="47575" tIns="47575" rIns="47575" bIns="47575" anchor="ctr" anchorCtr="0">
            <a:noAutofit/>
          </a:bodyPr>
          <a:lstStyle/>
          <a:p>
            <a:pPr marL="0" marR="0" lvl="0" indent="0" algn="l" rtl="0">
              <a:lnSpc>
                <a:spcPct val="100000"/>
              </a:lnSpc>
              <a:spcBef>
                <a:spcPts val="0"/>
              </a:spcBef>
              <a:spcAft>
                <a:spcPts val="0"/>
              </a:spcAft>
              <a:buClr>
                <a:srgbClr val="000000"/>
              </a:buClr>
              <a:buSzPts val="1428"/>
              <a:buFont typeface="Arial"/>
              <a:buNone/>
            </a:pPr>
            <a:r>
              <a:rPr lang="en-AU" sz="1428" b="0" i="0" u="none" strike="noStrike" cap="none">
                <a:solidFill>
                  <a:schemeClr val="lt1"/>
                </a:solidFill>
                <a:latin typeface="Arial"/>
                <a:ea typeface="Arial"/>
                <a:cs typeface="Arial"/>
                <a:sym typeface="Arial"/>
              </a:rPr>
              <a:t>3</a:t>
            </a:r>
            <a:endParaRPr sz="1400" b="0" i="0" u="none" strike="noStrike" cap="none">
              <a:solidFill>
                <a:srgbClr val="000000"/>
              </a:solidFill>
              <a:latin typeface="Arial"/>
              <a:ea typeface="Arial"/>
              <a:cs typeface="Arial"/>
              <a:sym typeface="Arial"/>
            </a:endParaRPr>
          </a:p>
        </p:txBody>
      </p:sp>
      <p:sp>
        <p:nvSpPr>
          <p:cNvPr id="31" name="Google Shape;31;p1"/>
          <p:cNvSpPr/>
          <p:nvPr/>
        </p:nvSpPr>
        <p:spPr>
          <a:xfrm>
            <a:off x="4668375" y="4797685"/>
            <a:ext cx="288315" cy="288315"/>
          </a:xfrm>
          <a:prstGeom prst="rect">
            <a:avLst/>
          </a:prstGeom>
          <a:solidFill>
            <a:srgbClr val="F1A205"/>
          </a:solidFill>
          <a:ln>
            <a:noFill/>
          </a:ln>
        </p:spPr>
        <p:txBody>
          <a:bodyPr spcFirstLastPara="1" wrap="square" lIns="47575" tIns="47575" rIns="47575" bIns="47575" anchor="ctr" anchorCtr="0">
            <a:noAutofit/>
          </a:bodyPr>
          <a:lstStyle/>
          <a:p>
            <a:pPr marL="0" marR="0" lvl="0" indent="0" algn="l" rtl="0">
              <a:lnSpc>
                <a:spcPct val="100000"/>
              </a:lnSpc>
              <a:spcBef>
                <a:spcPts val="0"/>
              </a:spcBef>
              <a:spcAft>
                <a:spcPts val="0"/>
              </a:spcAft>
              <a:buClr>
                <a:srgbClr val="000000"/>
              </a:buClr>
              <a:buSzPts val="1428"/>
              <a:buFont typeface="Arial"/>
              <a:buNone/>
            </a:pPr>
            <a:r>
              <a:rPr lang="en-AU" sz="1428" b="0" i="0" u="none" strike="noStrike" cap="none">
                <a:solidFill>
                  <a:schemeClr val="lt1"/>
                </a:solidFill>
                <a:latin typeface="Arial"/>
                <a:ea typeface="Arial"/>
                <a:cs typeface="Arial"/>
                <a:sym typeface="Arial"/>
              </a:rPr>
              <a:t>6</a:t>
            </a:r>
            <a:endParaRPr sz="1400" b="0" i="0" u="none" strike="noStrike" cap="none">
              <a:solidFill>
                <a:srgbClr val="000000"/>
              </a:solidFill>
              <a:latin typeface="Arial"/>
              <a:ea typeface="Arial"/>
              <a:cs typeface="Arial"/>
              <a:sym typeface="Arial"/>
            </a:endParaRPr>
          </a:p>
        </p:txBody>
      </p:sp>
      <p:sp>
        <p:nvSpPr>
          <p:cNvPr id="32" name="Google Shape;32;p1"/>
          <p:cNvSpPr/>
          <p:nvPr/>
        </p:nvSpPr>
        <p:spPr>
          <a:xfrm>
            <a:off x="601195" y="4436445"/>
            <a:ext cx="3597454" cy="21974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428"/>
              <a:buFont typeface="Arial"/>
              <a:buNone/>
            </a:pPr>
            <a:r>
              <a:rPr lang="en-AU" sz="1428" b="0" i="0" u="none" strike="noStrike" cap="none" dirty="0">
                <a:solidFill>
                  <a:schemeClr val="dk1"/>
                </a:solidFill>
                <a:latin typeface="Arial"/>
                <a:ea typeface="Arial"/>
                <a:cs typeface="Arial"/>
                <a:sym typeface="Arial"/>
              </a:rPr>
              <a:t>Scope of solution space </a:t>
            </a:r>
            <a:endParaRPr sz="1400" b="0" i="0" u="none" strike="noStrike" cap="none" dirty="0">
              <a:solidFill>
                <a:srgbClr val="000000"/>
              </a:solidFill>
              <a:latin typeface="Arial"/>
              <a:ea typeface="Arial"/>
              <a:cs typeface="Arial"/>
              <a:sym typeface="Arial"/>
            </a:endParaRPr>
          </a:p>
        </p:txBody>
      </p:sp>
      <p:sp>
        <p:nvSpPr>
          <p:cNvPr id="33" name="Google Shape;33;p1"/>
          <p:cNvSpPr/>
          <p:nvPr/>
        </p:nvSpPr>
        <p:spPr>
          <a:xfrm>
            <a:off x="5050634" y="4829741"/>
            <a:ext cx="3597454" cy="224203"/>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428"/>
              <a:buFont typeface="Arial"/>
              <a:buNone/>
            </a:pPr>
            <a:r>
              <a:rPr lang="en-AU" sz="1428">
                <a:solidFill>
                  <a:schemeClr val="dk1"/>
                </a:solidFill>
              </a:rPr>
              <a:t>Key</a:t>
            </a:r>
            <a:r>
              <a:rPr lang="en-AU" sz="1428" b="0" i="0" u="none" strike="noStrike" cap="none">
                <a:solidFill>
                  <a:schemeClr val="dk1"/>
                </a:solidFill>
                <a:latin typeface="Arial"/>
                <a:ea typeface="Arial"/>
                <a:cs typeface="Arial"/>
                <a:sym typeface="Arial"/>
              </a:rPr>
              <a:t> data sources </a:t>
            </a:r>
            <a:endParaRPr sz="1400" b="0" i="0" u="none" strike="noStrike" cap="none">
              <a:solidFill>
                <a:srgbClr val="000000"/>
              </a:solidFill>
              <a:latin typeface="Arial"/>
              <a:ea typeface="Arial"/>
              <a:cs typeface="Arial"/>
              <a:sym typeface="Arial"/>
            </a:endParaRPr>
          </a:p>
        </p:txBody>
      </p:sp>
      <p:sp>
        <p:nvSpPr>
          <p:cNvPr id="34" name="Google Shape;34;p1"/>
          <p:cNvSpPr txBox="1"/>
          <p:nvPr/>
        </p:nvSpPr>
        <p:spPr>
          <a:xfrm>
            <a:off x="143108" y="1964976"/>
            <a:ext cx="4324418" cy="915425"/>
          </a:xfrm>
          <a:prstGeom prst="rect">
            <a:avLst/>
          </a:prstGeom>
          <a:noFill/>
          <a:ln>
            <a:noFill/>
          </a:ln>
        </p:spPr>
        <p:txBody>
          <a:bodyPr spcFirstLastPara="1" wrap="square" lIns="91425" tIns="45700" rIns="91425" bIns="45700" anchor="t" anchorCtr="0">
            <a:noAutofit/>
          </a:bodyPr>
          <a:lstStyle/>
          <a:p>
            <a:pPr lvl="0"/>
            <a:r>
              <a:rPr lang="en-US" sz="1000" dirty="0"/>
              <a:t>The business wants some guidance on how to select a better value for their ticket price. They are also considering a number of changes that they hope will either cut costs without undermining the ticket price or will support an even higher ticket price.</a:t>
            </a:r>
            <a:endParaRPr sz="1000" dirty="0"/>
          </a:p>
        </p:txBody>
      </p:sp>
      <p:sp>
        <p:nvSpPr>
          <p:cNvPr id="35" name="Google Shape;35;p1"/>
          <p:cNvSpPr txBox="1"/>
          <p:nvPr/>
        </p:nvSpPr>
        <p:spPr>
          <a:xfrm>
            <a:off x="108794" y="3189932"/>
            <a:ext cx="4324418" cy="117650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AU" sz="1000" i="0" u="none" strike="noStrike" cap="none" dirty="0">
                <a:solidFill>
                  <a:srgbClr val="000000"/>
                </a:solidFill>
                <a:latin typeface="Arial"/>
                <a:ea typeface="Arial"/>
                <a:cs typeface="Arial"/>
                <a:sym typeface="Arial"/>
              </a:rPr>
              <a:t>1. Optimal ticket pricing that is based on data driven analysis and that reflects true value of facilities and services.</a:t>
            </a:r>
          </a:p>
          <a:p>
            <a:pPr marL="0" marR="0" lvl="0" indent="0" algn="l" rtl="0">
              <a:lnSpc>
                <a:spcPct val="100000"/>
              </a:lnSpc>
              <a:spcBef>
                <a:spcPts val="0"/>
              </a:spcBef>
              <a:spcAft>
                <a:spcPts val="0"/>
              </a:spcAft>
              <a:buNone/>
            </a:pPr>
            <a:endParaRPr lang="en-US" sz="100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1000" dirty="0"/>
              <a:t>2. Business is able to gain clear insights into which facilities/services that drive the most value so that this analysis guides future investment decisions</a:t>
            </a:r>
            <a:endParaRPr sz="1000" i="0" u="none" strike="noStrike" cap="none" dirty="0">
              <a:solidFill>
                <a:srgbClr val="000000"/>
              </a:solidFill>
              <a:latin typeface="Arial"/>
              <a:ea typeface="Arial"/>
              <a:cs typeface="Arial"/>
              <a:sym typeface="Arial"/>
            </a:endParaRPr>
          </a:p>
        </p:txBody>
      </p:sp>
      <p:sp>
        <p:nvSpPr>
          <p:cNvPr id="36" name="Google Shape;36;p1"/>
          <p:cNvSpPr txBox="1"/>
          <p:nvPr/>
        </p:nvSpPr>
        <p:spPr>
          <a:xfrm>
            <a:off x="206580" y="4759788"/>
            <a:ext cx="4324418" cy="1176505"/>
          </a:xfrm>
          <a:prstGeom prst="rect">
            <a:avLst/>
          </a:prstGeom>
          <a:noFill/>
          <a:ln>
            <a:noFill/>
          </a:ln>
        </p:spPr>
        <p:txBody>
          <a:bodyPr spcFirstLastPara="1" wrap="square" lIns="91425" tIns="45700" rIns="91425" bIns="45700" anchor="t" anchorCtr="0">
            <a:noAutofit/>
          </a:bodyPr>
          <a:lstStyle/>
          <a:p>
            <a:pPr marR="0" lvl="0" algn="l" rtl="0">
              <a:lnSpc>
                <a:spcPct val="100000"/>
              </a:lnSpc>
              <a:spcBef>
                <a:spcPts val="0"/>
              </a:spcBef>
              <a:spcAft>
                <a:spcPts val="0"/>
              </a:spcAft>
            </a:pPr>
            <a:r>
              <a:rPr lang="en-AU" sz="1071" b="0" i="0" u="none" strike="noStrike" cap="none" dirty="0">
                <a:solidFill>
                  <a:srgbClr val="000000"/>
                </a:solidFill>
                <a:latin typeface="Arial"/>
                <a:ea typeface="Arial"/>
                <a:cs typeface="Arial"/>
                <a:sym typeface="Arial"/>
              </a:rPr>
              <a:t>1. Pricing strategy and revenue optimization</a:t>
            </a:r>
          </a:p>
          <a:p>
            <a:pPr marR="0" lvl="0" algn="l" rtl="0">
              <a:lnSpc>
                <a:spcPct val="100000"/>
              </a:lnSpc>
              <a:spcBef>
                <a:spcPts val="0"/>
              </a:spcBef>
              <a:spcAft>
                <a:spcPts val="0"/>
              </a:spcAft>
            </a:pPr>
            <a:r>
              <a:rPr lang="en-AU" sz="1071" b="0" i="0" u="none" strike="noStrike" cap="none" dirty="0">
                <a:solidFill>
                  <a:srgbClr val="000000"/>
                </a:solidFill>
                <a:latin typeface="Arial"/>
                <a:ea typeface="Arial"/>
                <a:cs typeface="Arial"/>
                <a:sym typeface="Arial"/>
              </a:rPr>
              <a:t>2. Facility utilization and value asses</a:t>
            </a:r>
            <a:r>
              <a:rPr lang="en-AU" sz="1071" dirty="0"/>
              <a:t>sment</a:t>
            </a:r>
          </a:p>
          <a:p>
            <a:pPr lvl="0"/>
            <a:r>
              <a:rPr lang="en-AU" sz="1071" dirty="0"/>
              <a:t>3. </a:t>
            </a:r>
            <a:r>
              <a:rPr lang="en-US" sz="1100" dirty="0"/>
              <a:t>The new chair lift added </a:t>
            </a:r>
            <a:r>
              <a:rPr lang="en-US" sz="1100" b="1" dirty="0"/>
              <a:t>$1.54 million</a:t>
            </a:r>
            <a:r>
              <a:rPr lang="en-US" sz="1100" dirty="0"/>
              <a:t> in operating costs, highlighting a need for efficiency.</a:t>
            </a:r>
          </a:p>
          <a:p>
            <a:pPr lvl="0"/>
            <a:r>
              <a:rPr lang="en-US" sz="1100" dirty="0"/>
              <a:t>4. Investment and Strategic Decision Support</a:t>
            </a:r>
          </a:p>
          <a:p>
            <a:pPr lvl="0"/>
            <a:r>
              <a:rPr lang="en-US" sz="1100" dirty="0"/>
              <a:t>Overall implementing a data driven strategy</a:t>
            </a:r>
            <a:endParaRPr sz="1100" dirty="0"/>
          </a:p>
        </p:txBody>
      </p:sp>
      <p:sp>
        <p:nvSpPr>
          <p:cNvPr id="37" name="Google Shape;37;p1"/>
          <p:cNvSpPr txBox="1"/>
          <p:nvPr/>
        </p:nvSpPr>
        <p:spPr>
          <a:xfrm>
            <a:off x="4607126" y="1927608"/>
            <a:ext cx="4324418" cy="1237365"/>
          </a:xfrm>
          <a:prstGeom prst="rect">
            <a:avLst/>
          </a:prstGeom>
          <a:noFill/>
          <a:ln>
            <a:noFill/>
          </a:ln>
        </p:spPr>
        <p:txBody>
          <a:bodyPr spcFirstLastPara="1" wrap="square" lIns="91425" tIns="45700" rIns="91425" bIns="45700" anchor="t" anchorCtr="0">
            <a:noAutofit/>
          </a:bodyPr>
          <a:lstStyle/>
          <a:p>
            <a:pPr lvl="0"/>
            <a:r>
              <a:rPr lang="en-US" sz="1000" dirty="0"/>
              <a:t>The new chair lift adds $1.54 million in annual operating expenses. Any proposed solution must offset or justify this cost increase through improved pricing, higher ticket sales, or operational efficiency.</a:t>
            </a:r>
          </a:p>
          <a:p>
            <a:pPr lvl="0"/>
            <a:r>
              <a:rPr lang="en-US" sz="1000" dirty="0"/>
              <a:t>The resort currently charges a premium above market average, which means its prices are already on the high end. Therefore, raising prices further could reduce demand or alienate cost-sensitive visitors.</a:t>
            </a:r>
          </a:p>
          <a:p>
            <a:pPr marL="0" marR="0" lvl="0" indent="0" algn="l" rtl="0">
              <a:lnSpc>
                <a:spcPct val="100000"/>
              </a:lnSpc>
              <a:spcBef>
                <a:spcPts val="0"/>
              </a:spcBef>
              <a:spcAft>
                <a:spcPts val="0"/>
              </a:spcAft>
              <a:buNone/>
            </a:pPr>
            <a:endParaRPr sz="1070" b="1" i="0" u="none" strike="noStrike" cap="none" dirty="0">
              <a:solidFill>
                <a:srgbClr val="000000"/>
              </a:solidFill>
              <a:latin typeface="Arial"/>
              <a:ea typeface="Arial"/>
              <a:cs typeface="Arial"/>
              <a:sym typeface="Arial"/>
            </a:endParaRPr>
          </a:p>
        </p:txBody>
      </p:sp>
      <p:sp>
        <p:nvSpPr>
          <p:cNvPr id="38" name="Google Shape;38;p1"/>
          <p:cNvSpPr txBox="1"/>
          <p:nvPr/>
        </p:nvSpPr>
        <p:spPr>
          <a:xfrm>
            <a:off x="4590928" y="5085174"/>
            <a:ext cx="4324418" cy="1081065"/>
          </a:xfrm>
          <a:prstGeom prst="rect">
            <a:avLst/>
          </a:prstGeom>
          <a:noFill/>
          <a:ln>
            <a:noFill/>
          </a:ln>
        </p:spPr>
        <p:txBody>
          <a:bodyPr spcFirstLastPara="1" wrap="square" lIns="91425" tIns="45700" rIns="91425" bIns="45700" anchor="t" anchorCtr="0">
            <a:noAutofit/>
          </a:bodyPr>
          <a:lstStyle/>
          <a:p>
            <a:pPr marL="228600" lvl="0" indent="-228600">
              <a:buAutoNum type="arabicPeriod"/>
            </a:pPr>
            <a:r>
              <a:rPr lang="en-US" sz="1100" dirty="0"/>
              <a:t>A SQL database or an S3 bucket.</a:t>
            </a:r>
          </a:p>
          <a:p>
            <a:pPr marL="228600" lvl="0" indent="-228600">
              <a:buAutoNum type="arabicPeriod"/>
            </a:pPr>
            <a:r>
              <a:rPr lang="en-US" sz="1100" dirty="0"/>
              <a:t>Database of final list of changes that Business is considering so that they can cut costs and retain ticket prices</a:t>
            </a:r>
          </a:p>
          <a:p>
            <a:pPr lvl="0"/>
            <a:endParaRPr sz="1070" b="1" i="0" u="none" strike="noStrike" cap="none" dirty="0">
              <a:solidFill>
                <a:srgbClr val="000000"/>
              </a:solidFill>
              <a:latin typeface="Arial"/>
              <a:ea typeface="Arial"/>
              <a:cs typeface="Arial"/>
              <a:sym typeface="Arial"/>
            </a:endParaRPr>
          </a:p>
        </p:txBody>
      </p:sp>
      <p:sp>
        <p:nvSpPr>
          <p:cNvPr id="39" name="Google Shape;39;p1"/>
          <p:cNvSpPr/>
          <p:nvPr/>
        </p:nvSpPr>
        <p:spPr>
          <a:xfrm>
            <a:off x="6633337" y="6524418"/>
            <a:ext cx="432048" cy="205317"/>
          </a:xfrm>
          <a:prstGeom prst="chevron">
            <a:avLst>
              <a:gd name="adj" fmla="val 50000"/>
            </a:avLst>
          </a:prstGeom>
          <a:solidFill>
            <a:schemeClr val="accent4"/>
          </a:solidFill>
          <a:ln w="9525" cap="flat" cmpd="sng">
            <a:solidFill>
              <a:schemeClr val="dk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AU" sz="1200" b="1" i="0" u="none" strike="noStrike" cap="none">
                <a:solidFill>
                  <a:schemeClr val="lt1"/>
                </a:solidFill>
                <a:latin typeface="Quattrocento Sans"/>
                <a:ea typeface="Quattrocento Sans"/>
                <a:cs typeface="Quattrocento Sans"/>
                <a:sym typeface="Quattrocento Sans"/>
              </a:rPr>
              <a:t>H</a:t>
            </a:r>
            <a:endParaRPr sz="1400" b="0" i="0" u="none" strike="noStrike" cap="none">
              <a:solidFill>
                <a:srgbClr val="000000"/>
              </a:solidFill>
              <a:latin typeface="Arial"/>
              <a:ea typeface="Arial"/>
              <a:cs typeface="Arial"/>
              <a:sym typeface="Arial"/>
            </a:endParaRPr>
          </a:p>
        </p:txBody>
      </p:sp>
      <p:sp>
        <p:nvSpPr>
          <p:cNvPr id="40" name="Google Shape;40;p1"/>
          <p:cNvSpPr/>
          <p:nvPr/>
        </p:nvSpPr>
        <p:spPr>
          <a:xfrm>
            <a:off x="7028512" y="6513711"/>
            <a:ext cx="432048" cy="216024"/>
          </a:xfrm>
          <a:prstGeom prst="chevron">
            <a:avLst>
              <a:gd name="adj" fmla="val 50000"/>
            </a:avLst>
          </a:prstGeom>
          <a:solidFill>
            <a:srgbClr val="D8D8D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AU" sz="1200" b="1" i="0" u="none" strike="noStrike" cap="none">
                <a:solidFill>
                  <a:schemeClr val="lt1"/>
                </a:solidFill>
                <a:latin typeface="Quattrocento Sans"/>
                <a:ea typeface="Quattrocento Sans"/>
                <a:cs typeface="Quattrocento Sans"/>
                <a:sym typeface="Quattrocento Sans"/>
              </a:rPr>
              <a:t>D</a:t>
            </a:r>
            <a:endParaRPr sz="1400" b="0" i="0" u="none" strike="noStrike" cap="none">
              <a:solidFill>
                <a:srgbClr val="000000"/>
              </a:solidFill>
              <a:latin typeface="Arial"/>
              <a:ea typeface="Arial"/>
              <a:cs typeface="Arial"/>
              <a:sym typeface="Arial"/>
            </a:endParaRPr>
          </a:p>
        </p:txBody>
      </p:sp>
      <p:sp>
        <p:nvSpPr>
          <p:cNvPr id="41" name="Google Shape;41;p1"/>
          <p:cNvSpPr/>
          <p:nvPr/>
        </p:nvSpPr>
        <p:spPr>
          <a:xfrm>
            <a:off x="7452320" y="6503004"/>
            <a:ext cx="432048" cy="216024"/>
          </a:xfrm>
          <a:prstGeom prst="chevron">
            <a:avLst>
              <a:gd name="adj" fmla="val 50000"/>
            </a:avLst>
          </a:prstGeom>
          <a:solidFill>
            <a:srgbClr val="D8D8D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AU" sz="1200" b="1" i="0" u="none" strike="noStrike" cap="none">
                <a:solidFill>
                  <a:schemeClr val="lt1"/>
                </a:solidFill>
                <a:latin typeface="Quattrocento Sans"/>
                <a:ea typeface="Quattrocento Sans"/>
                <a:cs typeface="Quattrocento Sans"/>
                <a:sym typeface="Quattrocento Sans"/>
              </a:rPr>
              <a:t>E</a:t>
            </a:r>
            <a:endParaRPr sz="1400" b="0" i="0" u="none" strike="noStrike" cap="none">
              <a:solidFill>
                <a:srgbClr val="000000"/>
              </a:solidFill>
              <a:latin typeface="Arial"/>
              <a:ea typeface="Arial"/>
              <a:cs typeface="Arial"/>
              <a:sym typeface="Arial"/>
            </a:endParaRPr>
          </a:p>
        </p:txBody>
      </p:sp>
      <p:sp>
        <p:nvSpPr>
          <p:cNvPr id="42" name="Google Shape;42;p1"/>
          <p:cNvSpPr/>
          <p:nvPr/>
        </p:nvSpPr>
        <p:spPr>
          <a:xfrm>
            <a:off x="7846662" y="6508081"/>
            <a:ext cx="432048" cy="216024"/>
          </a:xfrm>
          <a:prstGeom prst="chevron">
            <a:avLst>
              <a:gd name="adj" fmla="val 50000"/>
            </a:avLst>
          </a:prstGeom>
          <a:solidFill>
            <a:srgbClr val="D8D8D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AU" sz="1200" b="1" i="0" u="none" strike="noStrike" cap="none">
                <a:solidFill>
                  <a:schemeClr val="lt1"/>
                </a:solidFill>
                <a:latin typeface="Quattrocento Sans"/>
                <a:ea typeface="Quattrocento Sans"/>
                <a:cs typeface="Quattrocento Sans"/>
                <a:sym typeface="Quattrocento Sans"/>
              </a:rPr>
              <a:t>I</a:t>
            </a:r>
            <a:endParaRPr sz="1400" b="0" i="0" u="none" strike="noStrike" cap="none">
              <a:solidFill>
                <a:srgbClr val="000000"/>
              </a:solidFill>
              <a:latin typeface="Arial"/>
              <a:ea typeface="Arial"/>
              <a:cs typeface="Arial"/>
              <a:sym typeface="Arial"/>
            </a:endParaRPr>
          </a:p>
        </p:txBody>
      </p:sp>
      <p:sp>
        <p:nvSpPr>
          <p:cNvPr id="43" name="Google Shape;43;p1"/>
          <p:cNvSpPr/>
          <p:nvPr/>
        </p:nvSpPr>
        <p:spPr>
          <a:xfrm>
            <a:off x="8245692" y="6503004"/>
            <a:ext cx="432048" cy="216024"/>
          </a:xfrm>
          <a:prstGeom prst="chevron">
            <a:avLst>
              <a:gd name="adj" fmla="val 50000"/>
            </a:avLst>
          </a:prstGeom>
          <a:solidFill>
            <a:srgbClr val="D8D8D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AU" sz="1200" b="1" i="0" u="none" strike="noStrike" cap="none">
                <a:solidFill>
                  <a:schemeClr val="lt1"/>
                </a:solidFill>
                <a:latin typeface="Quattrocento Sans"/>
                <a:ea typeface="Quattrocento Sans"/>
                <a:cs typeface="Quattrocento Sans"/>
                <a:sym typeface="Quattrocento Sans"/>
              </a:rPr>
              <a:t>P</a:t>
            </a:r>
            <a:endParaRPr sz="1400" b="0" i="0" u="none" strike="noStrike" cap="none">
              <a:solidFill>
                <a:srgbClr val="000000"/>
              </a:solidFill>
              <a:latin typeface="Arial"/>
              <a:ea typeface="Arial"/>
              <a:cs typeface="Arial"/>
              <a:sym typeface="Arial"/>
            </a:endParaRPr>
          </a:p>
        </p:txBody>
      </p:sp>
      <p:sp>
        <p:nvSpPr>
          <p:cNvPr id="44" name="Google Shape;44;p1"/>
          <p:cNvSpPr/>
          <p:nvPr/>
        </p:nvSpPr>
        <p:spPr>
          <a:xfrm>
            <a:off x="8099130" y="707128"/>
            <a:ext cx="432048" cy="205317"/>
          </a:xfrm>
          <a:prstGeom prst="chevron">
            <a:avLst>
              <a:gd name="adj" fmla="val 50000"/>
            </a:avLst>
          </a:prstGeom>
          <a:solidFill>
            <a:schemeClr val="accent4"/>
          </a:solidFill>
          <a:ln w="9525" cap="flat" cmpd="sng">
            <a:solidFill>
              <a:schemeClr val="dk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AU" sz="1200" b="1" i="0" u="none" strike="noStrike" cap="none">
                <a:solidFill>
                  <a:schemeClr val="lt1"/>
                </a:solidFill>
                <a:latin typeface="Quattrocento Sans"/>
                <a:ea typeface="Quattrocento Sans"/>
                <a:cs typeface="Quattrocento Sans"/>
                <a:sym typeface="Quattrocento Sans"/>
              </a:rPr>
              <a:t>H</a:t>
            </a:r>
            <a:endParaRPr sz="1400" b="0" i="0" u="none" strike="noStrike" cap="none">
              <a:solidFill>
                <a:srgbClr val="000000"/>
              </a:solidFill>
              <a:latin typeface="Arial"/>
              <a:ea typeface="Arial"/>
              <a:cs typeface="Arial"/>
              <a:sym typeface="Arial"/>
            </a:endParaRPr>
          </a:p>
        </p:txBody>
      </p:sp>
      <p:sp>
        <p:nvSpPr>
          <p:cNvPr id="45" name="Google Shape;45;p1"/>
          <p:cNvSpPr/>
          <p:nvPr/>
        </p:nvSpPr>
        <p:spPr>
          <a:xfrm>
            <a:off x="121750" y="116631"/>
            <a:ext cx="7724912" cy="1258306"/>
          </a:xfrm>
          <a:prstGeom prst="wedgeRectCallout">
            <a:avLst>
              <a:gd name="adj1" fmla="val 53513"/>
              <a:gd name="adj2" fmla="val 6588"/>
            </a:avLst>
          </a:prstGeom>
          <a:solidFill>
            <a:srgbClr val="FEF2D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46" name="Google Shape;46;p1"/>
          <p:cNvSpPr txBox="1">
            <a:spLocks noGrp="1"/>
          </p:cNvSpPr>
          <p:nvPr>
            <p:ph type="title"/>
          </p:nvPr>
        </p:nvSpPr>
        <p:spPr>
          <a:xfrm>
            <a:off x="184140" y="189590"/>
            <a:ext cx="8793596" cy="307777"/>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400"/>
              <a:buNone/>
            </a:pPr>
            <a:r>
              <a:rPr lang="en-AU" sz="2000" dirty="0">
                <a:solidFill>
                  <a:srgbClr val="29748D"/>
                </a:solidFill>
                <a:latin typeface="Quattrocento Sans"/>
                <a:ea typeface="Quattrocento Sans"/>
                <a:cs typeface="Quattrocento Sans"/>
                <a:sym typeface="Quattrocento Sans"/>
              </a:rPr>
              <a:t>Problem Statement Worksheet (Hypothesis Formation)</a:t>
            </a:r>
            <a:endParaRPr dirty="0"/>
          </a:p>
        </p:txBody>
      </p:sp>
      <p:sp>
        <p:nvSpPr>
          <p:cNvPr id="47" name="Google Shape;47;p1"/>
          <p:cNvSpPr txBox="1"/>
          <p:nvPr/>
        </p:nvSpPr>
        <p:spPr>
          <a:xfrm>
            <a:off x="4607126" y="3532671"/>
            <a:ext cx="4324418" cy="1081065"/>
          </a:xfrm>
          <a:prstGeom prst="rect">
            <a:avLst/>
          </a:prstGeom>
          <a:noFill/>
          <a:ln>
            <a:noFill/>
          </a:ln>
        </p:spPr>
        <p:txBody>
          <a:bodyPr spcFirstLastPara="1" wrap="square" lIns="91425" tIns="45700" rIns="91425" bIns="45700" anchor="t" anchorCtr="0">
            <a:noAutofit/>
          </a:bodyPr>
          <a:lstStyle/>
          <a:p>
            <a:pPr marL="228600" lvl="0" indent="-228600">
              <a:buAutoNum type="arabicPeriod"/>
            </a:pPr>
            <a:r>
              <a:rPr lang="en-US" sz="1100" dirty="0"/>
              <a:t>Director of Operations-  Jimmy Blackburn</a:t>
            </a:r>
          </a:p>
          <a:p>
            <a:pPr marL="228600" lvl="0" indent="-228600">
              <a:buAutoNum type="arabicPeriod"/>
            </a:pPr>
            <a:r>
              <a:rPr lang="en-US" sz="1100" dirty="0"/>
              <a:t>Database Manager - Alesha Eisen</a:t>
            </a:r>
          </a:p>
          <a:p>
            <a:pPr lvl="0"/>
            <a:endParaRPr sz="1100" dirty="0"/>
          </a:p>
        </p:txBody>
      </p:sp>
      <p:sp>
        <p:nvSpPr>
          <p:cNvPr id="48" name="Google Shape;48;p1"/>
          <p:cNvSpPr txBox="1"/>
          <p:nvPr/>
        </p:nvSpPr>
        <p:spPr>
          <a:xfrm>
            <a:off x="184140" y="540901"/>
            <a:ext cx="7584716" cy="707068"/>
          </a:xfrm>
          <a:prstGeom prst="rect">
            <a:avLst/>
          </a:prstGeom>
          <a:noFill/>
          <a:ln>
            <a:noFill/>
          </a:ln>
        </p:spPr>
        <p:txBody>
          <a:bodyPr spcFirstLastPara="1" wrap="square" lIns="91425" tIns="45700" rIns="91425" bIns="45700" anchor="t" anchorCtr="0">
            <a:noAutofit/>
          </a:bodyPr>
          <a:lstStyle/>
          <a:p>
            <a:pPr lvl="0">
              <a:buSzPts val="1400"/>
            </a:pPr>
            <a:r>
              <a:rPr lang="en-US" sz="1000" dirty="0"/>
              <a:t>Big Mountain Resort has recognized the shortcomings of its current strategy of setting ticket prices at a premium above the market average. Relying solely on market comparisons has limited the resort’s ability to fully leverage its facilities and maximize revenue potential. To address this, the business aims to develop a data-driven pricing model that identifies optimal ticket prices, highlights key revenue drivers among its facilities, and explores opportunities to reduce costs or justify premium pricing without diminishing perceived customer value.</a:t>
            </a:r>
            <a:endParaRPr sz="1000" b="1" i="0" u="none" strike="noStrike" cap="none" dirty="0">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name="Synergy_CF_YNR002">
  <a:themeElements>
    <a:clrScheme name="Current">
      <a:dk1>
        <a:srgbClr val="002C46"/>
      </a:dk1>
      <a:lt1>
        <a:srgbClr val="FFFFFF"/>
      </a:lt1>
      <a:dk2>
        <a:srgbClr val="FBC14E"/>
      </a:dk2>
      <a:lt2>
        <a:srgbClr val="879C16"/>
      </a:lt2>
      <a:accent1>
        <a:srgbClr val="99AABE"/>
      </a:accent1>
      <a:accent2>
        <a:srgbClr val="406085"/>
      </a:accent2>
      <a:accent3>
        <a:srgbClr val="002C46"/>
      </a:accent3>
      <a:accent4>
        <a:srgbClr val="FBC14E"/>
      </a:accent4>
      <a:accent5>
        <a:srgbClr val="379BBD"/>
      </a:accent5>
      <a:accent6>
        <a:srgbClr val="808080"/>
      </a:accent6>
      <a:hlink>
        <a:srgbClr val="002C46"/>
      </a:hlink>
      <a:folHlink>
        <a:srgbClr val="FBC14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669</Words>
  <Application>Microsoft Office PowerPoint</Application>
  <PresentationFormat>On-screen Show (4:3)</PresentationFormat>
  <Paragraphs>50</Paragraphs>
  <Slides>1</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Arial</vt:lpstr>
      <vt:lpstr>Calibri</vt:lpstr>
      <vt:lpstr>Quattrocento Sans</vt:lpstr>
      <vt:lpstr>Synergy_CF_YNR002</vt:lpstr>
      <vt:lpstr>Problem Statement Worksheet (Hypothesis Formation)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Christopher H</dc:creator>
  <cp:lastModifiedBy>Mishra, Ritu, VBAVACO</cp:lastModifiedBy>
  <cp:revision>1</cp:revision>
  <dcterms:modified xsi:type="dcterms:W3CDTF">2025-10-29T02:40:43Z</dcterms:modified>
</cp:coreProperties>
</file>