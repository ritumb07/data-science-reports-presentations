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72" r:id="rId4"/>
    <p:sldId id="259" r:id="rId5"/>
    <p:sldId id="267" r:id="rId6"/>
    <p:sldId id="269" r:id="rId7"/>
    <p:sldId id="270" r:id="rId8"/>
    <p:sldId id="26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A30A2-C932-DB0F-E524-3CCAE5C0581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5DF1C31-FFAE-E300-493A-8600CDA5A5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4A2F223-6C81-00D0-EF3A-DDECD5182DE5}"/>
              </a:ext>
            </a:extLst>
          </p:cNvPr>
          <p:cNvSpPr>
            <a:spLocks noGrp="1"/>
          </p:cNvSpPr>
          <p:nvPr>
            <p:ph type="dt" sz="half" idx="10"/>
          </p:nvPr>
        </p:nvSpPr>
        <p:spPr/>
        <p:txBody>
          <a:bodyPr/>
          <a:lstStyle/>
          <a:p>
            <a:fld id="{E6BF7D66-2C73-46F3-9398-D2A30DED3A10}" type="datetimeFigureOut">
              <a:rPr lang="en-US" smtClean="0"/>
              <a:t>01/07/2026</a:t>
            </a:fld>
            <a:endParaRPr lang="en-US"/>
          </a:p>
        </p:txBody>
      </p:sp>
      <p:sp>
        <p:nvSpPr>
          <p:cNvPr id="5" name="Footer Placeholder 4">
            <a:extLst>
              <a:ext uri="{FF2B5EF4-FFF2-40B4-BE49-F238E27FC236}">
                <a16:creationId xmlns:a16="http://schemas.microsoft.com/office/drawing/2014/main" id="{242E19F8-6666-FC3D-2B0E-3C6A0E2F57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B664A6-EE63-C4F0-4925-03F8755FFC1C}"/>
              </a:ext>
            </a:extLst>
          </p:cNvPr>
          <p:cNvSpPr>
            <a:spLocks noGrp="1"/>
          </p:cNvSpPr>
          <p:nvPr>
            <p:ph type="sldNum" sz="quarter" idx="12"/>
          </p:nvPr>
        </p:nvSpPr>
        <p:spPr/>
        <p:txBody>
          <a:bodyPr/>
          <a:lstStyle/>
          <a:p>
            <a:fld id="{87330131-8AC8-49F8-ABD9-4342DFED2E6F}" type="slidenum">
              <a:rPr lang="en-US" smtClean="0"/>
              <a:t>‹#›</a:t>
            </a:fld>
            <a:endParaRPr lang="en-US"/>
          </a:p>
        </p:txBody>
      </p:sp>
    </p:spTree>
    <p:extLst>
      <p:ext uri="{BB962C8B-B14F-4D97-AF65-F5344CB8AC3E}">
        <p14:creationId xmlns:p14="http://schemas.microsoft.com/office/powerpoint/2010/main" val="18623221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0872B-6A3E-3D1D-7D04-439AFE9F193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39E13B-6001-6400-D10D-B323D13D9C5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D948F4-5F59-EBC5-EB01-4A49CDA729D7}"/>
              </a:ext>
            </a:extLst>
          </p:cNvPr>
          <p:cNvSpPr>
            <a:spLocks noGrp="1"/>
          </p:cNvSpPr>
          <p:nvPr>
            <p:ph type="dt" sz="half" idx="10"/>
          </p:nvPr>
        </p:nvSpPr>
        <p:spPr/>
        <p:txBody>
          <a:bodyPr/>
          <a:lstStyle/>
          <a:p>
            <a:fld id="{E6BF7D66-2C73-46F3-9398-D2A30DED3A10}" type="datetimeFigureOut">
              <a:rPr lang="en-US" smtClean="0"/>
              <a:t>01/07/2026</a:t>
            </a:fld>
            <a:endParaRPr lang="en-US"/>
          </a:p>
        </p:txBody>
      </p:sp>
      <p:sp>
        <p:nvSpPr>
          <p:cNvPr id="5" name="Footer Placeholder 4">
            <a:extLst>
              <a:ext uri="{FF2B5EF4-FFF2-40B4-BE49-F238E27FC236}">
                <a16:creationId xmlns:a16="http://schemas.microsoft.com/office/drawing/2014/main" id="{78CAB5CA-D771-B19F-38B3-EC8F377494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99CA2D-1169-E099-16EE-1FBB63B72427}"/>
              </a:ext>
            </a:extLst>
          </p:cNvPr>
          <p:cNvSpPr>
            <a:spLocks noGrp="1"/>
          </p:cNvSpPr>
          <p:nvPr>
            <p:ph type="sldNum" sz="quarter" idx="12"/>
          </p:nvPr>
        </p:nvSpPr>
        <p:spPr/>
        <p:txBody>
          <a:bodyPr/>
          <a:lstStyle/>
          <a:p>
            <a:fld id="{87330131-8AC8-49F8-ABD9-4342DFED2E6F}" type="slidenum">
              <a:rPr lang="en-US" smtClean="0"/>
              <a:t>‹#›</a:t>
            </a:fld>
            <a:endParaRPr lang="en-US"/>
          </a:p>
        </p:txBody>
      </p:sp>
    </p:spTree>
    <p:extLst>
      <p:ext uri="{BB962C8B-B14F-4D97-AF65-F5344CB8AC3E}">
        <p14:creationId xmlns:p14="http://schemas.microsoft.com/office/powerpoint/2010/main" val="34553539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F2EC5-F277-35CB-0C38-6A9B18D608F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D4ECC17-54B8-E347-C5D3-0F39B9935CE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EAE745C-018E-87E4-F8B1-5FDD02B8307C}"/>
              </a:ext>
            </a:extLst>
          </p:cNvPr>
          <p:cNvSpPr>
            <a:spLocks noGrp="1"/>
          </p:cNvSpPr>
          <p:nvPr>
            <p:ph type="dt" sz="half" idx="10"/>
          </p:nvPr>
        </p:nvSpPr>
        <p:spPr/>
        <p:txBody>
          <a:bodyPr/>
          <a:lstStyle/>
          <a:p>
            <a:fld id="{E6BF7D66-2C73-46F3-9398-D2A30DED3A10}" type="datetimeFigureOut">
              <a:rPr lang="en-US" smtClean="0"/>
              <a:t>01/07/2026</a:t>
            </a:fld>
            <a:endParaRPr lang="en-US"/>
          </a:p>
        </p:txBody>
      </p:sp>
      <p:sp>
        <p:nvSpPr>
          <p:cNvPr id="5" name="Footer Placeholder 4">
            <a:extLst>
              <a:ext uri="{FF2B5EF4-FFF2-40B4-BE49-F238E27FC236}">
                <a16:creationId xmlns:a16="http://schemas.microsoft.com/office/drawing/2014/main" id="{8282CD3A-0145-4A63-816F-B41E54CB67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2EA683-F394-5DF5-173B-A5F25C9A7E0D}"/>
              </a:ext>
            </a:extLst>
          </p:cNvPr>
          <p:cNvSpPr>
            <a:spLocks noGrp="1"/>
          </p:cNvSpPr>
          <p:nvPr>
            <p:ph type="sldNum" sz="quarter" idx="12"/>
          </p:nvPr>
        </p:nvSpPr>
        <p:spPr/>
        <p:txBody>
          <a:bodyPr/>
          <a:lstStyle/>
          <a:p>
            <a:fld id="{87330131-8AC8-49F8-ABD9-4342DFED2E6F}" type="slidenum">
              <a:rPr lang="en-US" smtClean="0"/>
              <a:t>‹#›</a:t>
            </a:fld>
            <a:endParaRPr lang="en-US"/>
          </a:p>
        </p:txBody>
      </p:sp>
    </p:spTree>
    <p:extLst>
      <p:ext uri="{BB962C8B-B14F-4D97-AF65-F5344CB8AC3E}">
        <p14:creationId xmlns:p14="http://schemas.microsoft.com/office/powerpoint/2010/main" val="3279144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E41DD-A9F1-B733-C3D3-73011EAF59F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70903FE-7815-3E4D-F134-1AF331665F9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A66647C-EB09-D961-4F7C-6814B8E538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2D9FA34-FC47-41B8-03DB-2A3C466DDA66}"/>
              </a:ext>
            </a:extLst>
          </p:cNvPr>
          <p:cNvSpPr>
            <a:spLocks noGrp="1"/>
          </p:cNvSpPr>
          <p:nvPr>
            <p:ph type="dt" sz="half" idx="10"/>
          </p:nvPr>
        </p:nvSpPr>
        <p:spPr/>
        <p:txBody>
          <a:bodyPr/>
          <a:lstStyle/>
          <a:p>
            <a:fld id="{E6BF7D66-2C73-46F3-9398-D2A30DED3A10}" type="datetimeFigureOut">
              <a:rPr lang="en-US" smtClean="0"/>
              <a:t>01/07/2026</a:t>
            </a:fld>
            <a:endParaRPr lang="en-US"/>
          </a:p>
        </p:txBody>
      </p:sp>
      <p:sp>
        <p:nvSpPr>
          <p:cNvPr id="6" name="Footer Placeholder 5">
            <a:extLst>
              <a:ext uri="{FF2B5EF4-FFF2-40B4-BE49-F238E27FC236}">
                <a16:creationId xmlns:a16="http://schemas.microsoft.com/office/drawing/2014/main" id="{7268092D-A112-ECEB-49F7-C288813B3B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3CA916-5EAB-2F71-48E0-1CFF861AF65B}"/>
              </a:ext>
            </a:extLst>
          </p:cNvPr>
          <p:cNvSpPr>
            <a:spLocks noGrp="1"/>
          </p:cNvSpPr>
          <p:nvPr>
            <p:ph type="sldNum" sz="quarter" idx="12"/>
          </p:nvPr>
        </p:nvSpPr>
        <p:spPr/>
        <p:txBody>
          <a:bodyPr/>
          <a:lstStyle/>
          <a:p>
            <a:fld id="{87330131-8AC8-49F8-ABD9-4342DFED2E6F}" type="slidenum">
              <a:rPr lang="en-US" smtClean="0"/>
              <a:t>‹#›</a:t>
            </a:fld>
            <a:endParaRPr lang="en-US"/>
          </a:p>
        </p:txBody>
      </p:sp>
    </p:spTree>
    <p:extLst>
      <p:ext uri="{BB962C8B-B14F-4D97-AF65-F5344CB8AC3E}">
        <p14:creationId xmlns:p14="http://schemas.microsoft.com/office/powerpoint/2010/main" val="36077956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F647-0DD4-4A9E-B20D-65ACF8AD9C3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70DB080-928F-3312-3D99-4E6144DE6A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FF970F-59C1-F833-A68C-BAF20952894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D0863C0-66F1-7A9F-F6C5-76A513D96B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87F66B-2D4D-75D2-9189-68650D7D7A1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5EDEC9C-7D77-623B-07FF-AD1EF92EE213}"/>
              </a:ext>
            </a:extLst>
          </p:cNvPr>
          <p:cNvSpPr>
            <a:spLocks noGrp="1"/>
          </p:cNvSpPr>
          <p:nvPr>
            <p:ph type="dt" sz="half" idx="10"/>
          </p:nvPr>
        </p:nvSpPr>
        <p:spPr/>
        <p:txBody>
          <a:bodyPr/>
          <a:lstStyle/>
          <a:p>
            <a:fld id="{E6BF7D66-2C73-46F3-9398-D2A30DED3A10}" type="datetimeFigureOut">
              <a:rPr lang="en-US" smtClean="0"/>
              <a:t>01/07/2026</a:t>
            </a:fld>
            <a:endParaRPr lang="en-US"/>
          </a:p>
        </p:txBody>
      </p:sp>
      <p:sp>
        <p:nvSpPr>
          <p:cNvPr id="8" name="Footer Placeholder 7">
            <a:extLst>
              <a:ext uri="{FF2B5EF4-FFF2-40B4-BE49-F238E27FC236}">
                <a16:creationId xmlns:a16="http://schemas.microsoft.com/office/drawing/2014/main" id="{4524F3FB-AFAF-E90D-BA82-69D6B09DB35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5E2FB9F-26FA-B0D5-4F56-B5CD3FC84687}"/>
              </a:ext>
            </a:extLst>
          </p:cNvPr>
          <p:cNvSpPr>
            <a:spLocks noGrp="1"/>
          </p:cNvSpPr>
          <p:nvPr>
            <p:ph type="sldNum" sz="quarter" idx="12"/>
          </p:nvPr>
        </p:nvSpPr>
        <p:spPr/>
        <p:txBody>
          <a:bodyPr/>
          <a:lstStyle/>
          <a:p>
            <a:fld id="{87330131-8AC8-49F8-ABD9-4342DFED2E6F}" type="slidenum">
              <a:rPr lang="en-US" smtClean="0"/>
              <a:t>‹#›</a:t>
            </a:fld>
            <a:endParaRPr lang="en-US"/>
          </a:p>
        </p:txBody>
      </p:sp>
    </p:spTree>
    <p:extLst>
      <p:ext uri="{BB962C8B-B14F-4D97-AF65-F5344CB8AC3E}">
        <p14:creationId xmlns:p14="http://schemas.microsoft.com/office/powerpoint/2010/main" val="4034638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F4C5C-B338-D1A8-F80B-748D1D6AEEA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2FA18F6-88A2-A176-95CA-A87636E2446B}"/>
              </a:ext>
            </a:extLst>
          </p:cNvPr>
          <p:cNvSpPr>
            <a:spLocks noGrp="1"/>
          </p:cNvSpPr>
          <p:nvPr>
            <p:ph type="dt" sz="half" idx="10"/>
          </p:nvPr>
        </p:nvSpPr>
        <p:spPr/>
        <p:txBody>
          <a:bodyPr/>
          <a:lstStyle/>
          <a:p>
            <a:fld id="{E6BF7D66-2C73-46F3-9398-D2A30DED3A10}" type="datetimeFigureOut">
              <a:rPr lang="en-US" smtClean="0"/>
              <a:t>01/07/2026</a:t>
            </a:fld>
            <a:endParaRPr lang="en-US"/>
          </a:p>
        </p:txBody>
      </p:sp>
      <p:sp>
        <p:nvSpPr>
          <p:cNvPr id="4" name="Footer Placeholder 3">
            <a:extLst>
              <a:ext uri="{FF2B5EF4-FFF2-40B4-BE49-F238E27FC236}">
                <a16:creationId xmlns:a16="http://schemas.microsoft.com/office/drawing/2014/main" id="{AF4EC783-06EE-615E-141A-753C583E2B5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2E134B3-FB79-D490-1B50-24485C51D5E7}"/>
              </a:ext>
            </a:extLst>
          </p:cNvPr>
          <p:cNvSpPr>
            <a:spLocks noGrp="1"/>
          </p:cNvSpPr>
          <p:nvPr>
            <p:ph type="sldNum" sz="quarter" idx="12"/>
          </p:nvPr>
        </p:nvSpPr>
        <p:spPr/>
        <p:txBody>
          <a:bodyPr/>
          <a:lstStyle/>
          <a:p>
            <a:fld id="{87330131-8AC8-49F8-ABD9-4342DFED2E6F}" type="slidenum">
              <a:rPr lang="en-US" smtClean="0"/>
              <a:t>‹#›</a:t>
            </a:fld>
            <a:endParaRPr lang="en-US"/>
          </a:p>
        </p:txBody>
      </p:sp>
    </p:spTree>
    <p:extLst>
      <p:ext uri="{BB962C8B-B14F-4D97-AF65-F5344CB8AC3E}">
        <p14:creationId xmlns:p14="http://schemas.microsoft.com/office/powerpoint/2010/main" val="238615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EFAAE8-99CD-C99F-3C31-01AC651E85AB}"/>
              </a:ext>
            </a:extLst>
          </p:cNvPr>
          <p:cNvSpPr>
            <a:spLocks noGrp="1"/>
          </p:cNvSpPr>
          <p:nvPr>
            <p:ph type="dt" sz="half" idx="10"/>
          </p:nvPr>
        </p:nvSpPr>
        <p:spPr/>
        <p:txBody>
          <a:bodyPr/>
          <a:lstStyle/>
          <a:p>
            <a:fld id="{E6BF7D66-2C73-46F3-9398-D2A30DED3A10}" type="datetimeFigureOut">
              <a:rPr lang="en-US" smtClean="0"/>
              <a:t>01/07/2026</a:t>
            </a:fld>
            <a:endParaRPr lang="en-US"/>
          </a:p>
        </p:txBody>
      </p:sp>
      <p:sp>
        <p:nvSpPr>
          <p:cNvPr id="3" name="Footer Placeholder 2">
            <a:extLst>
              <a:ext uri="{FF2B5EF4-FFF2-40B4-BE49-F238E27FC236}">
                <a16:creationId xmlns:a16="http://schemas.microsoft.com/office/drawing/2014/main" id="{22AD9CA2-855C-393E-2D4A-2F654E7E367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4A70D76-16F2-B4B2-4FCF-1093759C087D}"/>
              </a:ext>
            </a:extLst>
          </p:cNvPr>
          <p:cNvSpPr>
            <a:spLocks noGrp="1"/>
          </p:cNvSpPr>
          <p:nvPr>
            <p:ph type="sldNum" sz="quarter" idx="12"/>
          </p:nvPr>
        </p:nvSpPr>
        <p:spPr/>
        <p:txBody>
          <a:bodyPr/>
          <a:lstStyle/>
          <a:p>
            <a:fld id="{87330131-8AC8-49F8-ABD9-4342DFED2E6F}" type="slidenum">
              <a:rPr lang="en-US" smtClean="0"/>
              <a:t>‹#›</a:t>
            </a:fld>
            <a:endParaRPr lang="en-US"/>
          </a:p>
        </p:txBody>
      </p:sp>
    </p:spTree>
    <p:extLst>
      <p:ext uri="{BB962C8B-B14F-4D97-AF65-F5344CB8AC3E}">
        <p14:creationId xmlns:p14="http://schemas.microsoft.com/office/powerpoint/2010/main" val="1052075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811E6-CFB4-4217-DEE8-2D20AD464F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A3D0E5D-91EA-BB9C-F88C-E4D8BF9D0DB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92ED234-8ADE-2435-05CB-74A327CB3B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CEB882-0767-D7E5-554F-EE14ACFD1156}"/>
              </a:ext>
            </a:extLst>
          </p:cNvPr>
          <p:cNvSpPr>
            <a:spLocks noGrp="1"/>
          </p:cNvSpPr>
          <p:nvPr>
            <p:ph type="dt" sz="half" idx="10"/>
          </p:nvPr>
        </p:nvSpPr>
        <p:spPr/>
        <p:txBody>
          <a:bodyPr/>
          <a:lstStyle/>
          <a:p>
            <a:fld id="{E6BF7D66-2C73-46F3-9398-D2A30DED3A10}" type="datetimeFigureOut">
              <a:rPr lang="en-US" smtClean="0"/>
              <a:t>01/07/2026</a:t>
            </a:fld>
            <a:endParaRPr lang="en-US"/>
          </a:p>
        </p:txBody>
      </p:sp>
      <p:sp>
        <p:nvSpPr>
          <p:cNvPr id="6" name="Footer Placeholder 5">
            <a:extLst>
              <a:ext uri="{FF2B5EF4-FFF2-40B4-BE49-F238E27FC236}">
                <a16:creationId xmlns:a16="http://schemas.microsoft.com/office/drawing/2014/main" id="{1B65B00B-BFFC-3230-9844-B81F830B9E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20C057D-13C2-1D45-835E-919D42BBB25B}"/>
              </a:ext>
            </a:extLst>
          </p:cNvPr>
          <p:cNvSpPr>
            <a:spLocks noGrp="1"/>
          </p:cNvSpPr>
          <p:nvPr>
            <p:ph type="sldNum" sz="quarter" idx="12"/>
          </p:nvPr>
        </p:nvSpPr>
        <p:spPr/>
        <p:txBody>
          <a:bodyPr/>
          <a:lstStyle/>
          <a:p>
            <a:fld id="{87330131-8AC8-49F8-ABD9-4342DFED2E6F}" type="slidenum">
              <a:rPr lang="en-US" smtClean="0"/>
              <a:t>‹#›</a:t>
            </a:fld>
            <a:endParaRPr lang="en-US"/>
          </a:p>
        </p:txBody>
      </p:sp>
    </p:spTree>
    <p:extLst>
      <p:ext uri="{BB962C8B-B14F-4D97-AF65-F5344CB8AC3E}">
        <p14:creationId xmlns:p14="http://schemas.microsoft.com/office/powerpoint/2010/main" val="6103669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24970-91A7-3EE3-F4F3-774DDF2203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B362F9E-1C9A-18DE-4914-D88102A7AD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B0DC96B-B231-F364-6A9C-E7F59BFB38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444697-4C7C-C68B-48E4-41AF96C2DC1F}"/>
              </a:ext>
            </a:extLst>
          </p:cNvPr>
          <p:cNvSpPr>
            <a:spLocks noGrp="1"/>
          </p:cNvSpPr>
          <p:nvPr>
            <p:ph type="dt" sz="half" idx="10"/>
          </p:nvPr>
        </p:nvSpPr>
        <p:spPr/>
        <p:txBody>
          <a:bodyPr/>
          <a:lstStyle/>
          <a:p>
            <a:fld id="{E6BF7D66-2C73-46F3-9398-D2A30DED3A10}" type="datetimeFigureOut">
              <a:rPr lang="en-US" smtClean="0"/>
              <a:t>01/07/2026</a:t>
            </a:fld>
            <a:endParaRPr lang="en-US"/>
          </a:p>
        </p:txBody>
      </p:sp>
      <p:sp>
        <p:nvSpPr>
          <p:cNvPr id="6" name="Footer Placeholder 5">
            <a:extLst>
              <a:ext uri="{FF2B5EF4-FFF2-40B4-BE49-F238E27FC236}">
                <a16:creationId xmlns:a16="http://schemas.microsoft.com/office/drawing/2014/main" id="{10DBA821-1593-6DFB-B901-CAB483AE8B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86E750-693F-8814-A823-CEE9FFFC96AD}"/>
              </a:ext>
            </a:extLst>
          </p:cNvPr>
          <p:cNvSpPr>
            <a:spLocks noGrp="1"/>
          </p:cNvSpPr>
          <p:nvPr>
            <p:ph type="sldNum" sz="quarter" idx="12"/>
          </p:nvPr>
        </p:nvSpPr>
        <p:spPr/>
        <p:txBody>
          <a:bodyPr/>
          <a:lstStyle/>
          <a:p>
            <a:fld id="{87330131-8AC8-49F8-ABD9-4342DFED2E6F}" type="slidenum">
              <a:rPr lang="en-US" smtClean="0"/>
              <a:t>‹#›</a:t>
            </a:fld>
            <a:endParaRPr lang="en-US"/>
          </a:p>
        </p:txBody>
      </p:sp>
    </p:spTree>
    <p:extLst>
      <p:ext uri="{BB962C8B-B14F-4D97-AF65-F5344CB8AC3E}">
        <p14:creationId xmlns:p14="http://schemas.microsoft.com/office/powerpoint/2010/main" val="12940425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0D900-7F5A-F71D-0300-5E5A961C98F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D4E0B42-6FEF-7223-4C8E-EDB3C6AB71C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A06E1EA-0CCB-6302-26E3-AEDF41CCCCF9}"/>
              </a:ext>
            </a:extLst>
          </p:cNvPr>
          <p:cNvSpPr>
            <a:spLocks noGrp="1"/>
          </p:cNvSpPr>
          <p:nvPr>
            <p:ph type="dt" sz="half" idx="10"/>
          </p:nvPr>
        </p:nvSpPr>
        <p:spPr/>
        <p:txBody>
          <a:bodyPr/>
          <a:lstStyle/>
          <a:p>
            <a:fld id="{E6BF7D66-2C73-46F3-9398-D2A30DED3A10}" type="datetimeFigureOut">
              <a:rPr lang="en-US" smtClean="0"/>
              <a:t>01/07/2026</a:t>
            </a:fld>
            <a:endParaRPr lang="en-US"/>
          </a:p>
        </p:txBody>
      </p:sp>
      <p:sp>
        <p:nvSpPr>
          <p:cNvPr id="5" name="Footer Placeholder 4">
            <a:extLst>
              <a:ext uri="{FF2B5EF4-FFF2-40B4-BE49-F238E27FC236}">
                <a16:creationId xmlns:a16="http://schemas.microsoft.com/office/drawing/2014/main" id="{56E68766-8DB9-9F27-2FBE-DC7BDFA7D6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E17AC9-38C3-F4DD-E29F-59E1AD6AFE0E}"/>
              </a:ext>
            </a:extLst>
          </p:cNvPr>
          <p:cNvSpPr>
            <a:spLocks noGrp="1"/>
          </p:cNvSpPr>
          <p:nvPr>
            <p:ph type="sldNum" sz="quarter" idx="12"/>
          </p:nvPr>
        </p:nvSpPr>
        <p:spPr/>
        <p:txBody>
          <a:bodyPr/>
          <a:lstStyle/>
          <a:p>
            <a:fld id="{87330131-8AC8-49F8-ABD9-4342DFED2E6F}" type="slidenum">
              <a:rPr lang="en-US" smtClean="0"/>
              <a:t>‹#›</a:t>
            </a:fld>
            <a:endParaRPr lang="en-US"/>
          </a:p>
        </p:txBody>
      </p:sp>
    </p:spTree>
    <p:extLst>
      <p:ext uri="{BB962C8B-B14F-4D97-AF65-F5344CB8AC3E}">
        <p14:creationId xmlns:p14="http://schemas.microsoft.com/office/powerpoint/2010/main" val="17110776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546DA9-A3B3-D1B2-3E50-1F0B0ED9DB3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6E2AFF6-CDA0-4BAD-35D0-CB833078BB0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3AC05F-DE70-FD13-FF2C-B7D3D6EB36CA}"/>
              </a:ext>
            </a:extLst>
          </p:cNvPr>
          <p:cNvSpPr>
            <a:spLocks noGrp="1"/>
          </p:cNvSpPr>
          <p:nvPr>
            <p:ph type="dt" sz="half" idx="10"/>
          </p:nvPr>
        </p:nvSpPr>
        <p:spPr/>
        <p:txBody>
          <a:bodyPr/>
          <a:lstStyle/>
          <a:p>
            <a:fld id="{E6BF7D66-2C73-46F3-9398-D2A30DED3A10}" type="datetimeFigureOut">
              <a:rPr lang="en-US" smtClean="0"/>
              <a:t>01/07/2026</a:t>
            </a:fld>
            <a:endParaRPr lang="en-US"/>
          </a:p>
        </p:txBody>
      </p:sp>
      <p:sp>
        <p:nvSpPr>
          <p:cNvPr id="5" name="Footer Placeholder 4">
            <a:extLst>
              <a:ext uri="{FF2B5EF4-FFF2-40B4-BE49-F238E27FC236}">
                <a16:creationId xmlns:a16="http://schemas.microsoft.com/office/drawing/2014/main" id="{EA17391F-00A4-56F6-EC4B-A1C195246F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7B64B1-8232-9866-034C-7889C32BB93E}"/>
              </a:ext>
            </a:extLst>
          </p:cNvPr>
          <p:cNvSpPr>
            <a:spLocks noGrp="1"/>
          </p:cNvSpPr>
          <p:nvPr>
            <p:ph type="sldNum" sz="quarter" idx="12"/>
          </p:nvPr>
        </p:nvSpPr>
        <p:spPr/>
        <p:txBody>
          <a:bodyPr/>
          <a:lstStyle/>
          <a:p>
            <a:fld id="{87330131-8AC8-49F8-ABD9-4342DFED2E6F}" type="slidenum">
              <a:rPr lang="en-US" smtClean="0"/>
              <a:t>‹#›</a:t>
            </a:fld>
            <a:endParaRPr lang="en-US"/>
          </a:p>
        </p:txBody>
      </p:sp>
    </p:spTree>
    <p:extLst>
      <p:ext uri="{BB962C8B-B14F-4D97-AF65-F5344CB8AC3E}">
        <p14:creationId xmlns:p14="http://schemas.microsoft.com/office/powerpoint/2010/main" val="20869110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5A233C-A415-1B2C-8848-D08E7F583C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273911-28D4-D6EB-E496-E80C762790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CBB186-5E83-EEFA-E040-281B320F0D6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6BF7D66-2C73-46F3-9398-D2A30DED3A10}" type="datetimeFigureOut">
              <a:rPr lang="en-US" smtClean="0"/>
              <a:t>01/07/2026</a:t>
            </a:fld>
            <a:endParaRPr lang="en-US"/>
          </a:p>
        </p:txBody>
      </p:sp>
      <p:sp>
        <p:nvSpPr>
          <p:cNvPr id="5" name="Footer Placeholder 4">
            <a:extLst>
              <a:ext uri="{FF2B5EF4-FFF2-40B4-BE49-F238E27FC236}">
                <a16:creationId xmlns:a16="http://schemas.microsoft.com/office/drawing/2014/main" id="{FEDA9A0C-B589-87D3-CDB1-00092608BD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B76194B-5C3F-45ED-6688-5337341E9F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7330131-8AC8-49F8-ABD9-4342DFED2E6F}" type="slidenum">
              <a:rPr lang="en-US" smtClean="0"/>
              <a:t>‹#›</a:t>
            </a:fld>
            <a:endParaRPr lang="en-US"/>
          </a:p>
        </p:txBody>
      </p:sp>
    </p:spTree>
    <p:extLst>
      <p:ext uri="{BB962C8B-B14F-4D97-AF65-F5344CB8AC3E}">
        <p14:creationId xmlns:p14="http://schemas.microsoft.com/office/powerpoint/2010/main" val="12300480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4C93CDC-FDFF-B843-79B0-12EBFFA50F16}"/>
              </a:ext>
            </a:extLst>
          </p:cNvPr>
          <p:cNvSpPr>
            <a:spLocks noGrp="1"/>
          </p:cNvSpPr>
          <p:nvPr>
            <p:ph type="ctrTitle"/>
          </p:nvPr>
        </p:nvSpPr>
        <p:spPr>
          <a:xfrm>
            <a:off x="505688" y="818984"/>
            <a:ext cx="8037576" cy="1558978"/>
          </a:xfrm>
        </p:spPr>
        <p:txBody>
          <a:bodyPr>
            <a:normAutofit/>
          </a:bodyPr>
          <a:lstStyle/>
          <a:p>
            <a:pPr algn="r"/>
            <a:r>
              <a:rPr lang="en-US" sz="4800" dirty="0">
                <a:solidFill>
                  <a:srgbClr val="FFFFFF"/>
                </a:solidFill>
              </a:rPr>
              <a:t>Big Mountain Resort Use Case</a:t>
            </a:r>
          </a:p>
        </p:txBody>
      </p:sp>
      <p:sp>
        <p:nvSpPr>
          <p:cNvPr id="18" name="Rectangle 17">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A9034ED6-E56D-CBBE-CA01-07C2EEAFEBD1}"/>
              </a:ext>
            </a:extLst>
          </p:cNvPr>
          <p:cNvSpPr>
            <a:spLocks noGrp="1"/>
          </p:cNvSpPr>
          <p:nvPr>
            <p:ph type="subTitle" idx="1"/>
          </p:nvPr>
        </p:nvSpPr>
        <p:spPr>
          <a:xfrm>
            <a:off x="505688" y="4797188"/>
            <a:ext cx="6051236" cy="1241828"/>
          </a:xfrm>
        </p:spPr>
        <p:txBody>
          <a:bodyPr>
            <a:normAutofit/>
          </a:bodyPr>
          <a:lstStyle/>
          <a:p>
            <a:pPr algn="r"/>
            <a:r>
              <a:rPr lang="en-US" dirty="0">
                <a:solidFill>
                  <a:srgbClr val="FFFFFF"/>
                </a:solidFill>
              </a:rPr>
              <a:t>Executive Presentation</a:t>
            </a:r>
          </a:p>
        </p:txBody>
      </p:sp>
      <p:sp>
        <p:nvSpPr>
          <p:cNvPr id="20" name="Rectangle 19">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627592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287AEF0-2A08-C6FF-AAF5-13B515080DD3}"/>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FB3DFAA-4766-6F93-2C05-2319FB2E9697}"/>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Problem Identification</a:t>
            </a:r>
          </a:p>
        </p:txBody>
      </p:sp>
      <p:sp>
        <p:nvSpPr>
          <p:cNvPr id="3" name="Content Placeholder 2">
            <a:extLst>
              <a:ext uri="{FF2B5EF4-FFF2-40B4-BE49-F238E27FC236}">
                <a16:creationId xmlns:a16="http://schemas.microsoft.com/office/drawing/2014/main" id="{63FB2D06-6694-D135-0F71-CEC75C01D003}"/>
              </a:ext>
            </a:extLst>
          </p:cNvPr>
          <p:cNvSpPr>
            <a:spLocks noGrp="1"/>
          </p:cNvSpPr>
          <p:nvPr>
            <p:ph idx="1"/>
          </p:nvPr>
        </p:nvSpPr>
        <p:spPr>
          <a:xfrm>
            <a:off x="5687568" y="649480"/>
            <a:ext cx="5678037" cy="5546047"/>
          </a:xfrm>
        </p:spPr>
        <p:txBody>
          <a:bodyPr anchor="ctr">
            <a:normAutofit lnSpcReduction="10000"/>
          </a:bodyPr>
          <a:lstStyle/>
          <a:p>
            <a:pPr marL="0" indent="0">
              <a:buNone/>
            </a:pPr>
            <a:r>
              <a:rPr lang="en-US" sz="2000" dirty="0"/>
              <a:t>Big Mountain Ski Resort in Montana has recognized the shortcomings of its current strategy of setting ticket prices at a premium above the market average. </a:t>
            </a:r>
          </a:p>
          <a:p>
            <a:pPr marL="0" indent="0">
              <a:buNone/>
            </a:pPr>
            <a:endParaRPr lang="en-US" sz="2000" dirty="0"/>
          </a:p>
          <a:p>
            <a:pPr marL="0" indent="0">
              <a:buNone/>
            </a:pPr>
            <a:r>
              <a:rPr lang="en-US" sz="2000" dirty="0"/>
              <a:t>The executives are seeking for guidance on how to select a better value for their ticket price. They are also considering several changes that they hope will either cut costs without undermining the ticket price or will support an even higher ticket price.</a:t>
            </a:r>
          </a:p>
          <a:p>
            <a:pPr marL="0" indent="0">
              <a:buNone/>
            </a:pPr>
            <a:endParaRPr lang="en-US" sz="2000" dirty="0"/>
          </a:p>
          <a:p>
            <a:pPr marL="0" indent="0">
              <a:buNone/>
            </a:pPr>
            <a:r>
              <a:rPr lang="en-US" sz="2000" dirty="0"/>
              <a:t>Overall, the goal is to identify opportunities with high success rate to increase revenue by $1.54M by evaluating the impact of resort features on pricing.</a:t>
            </a:r>
          </a:p>
          <a:p>
            <a:pPr marL="0" indent="0">
              <a:buNone/>
            </a:pPr>
            <a:br>
              <a:rPr lang="en-US" sz="2000" dirty="0"/>
            </a:br>
            <a:endParaRPr lang="en-US" sz="2000" dirty="0"/>
          </a:p>
        </p:txBody>
      </p:sp>
    </p:spTree>
    <p:extLst>
      <p:ext uri="{BB962C8B-B14F-4D97-AF65-F5344CB8AC3E}">
        <p14:creationId xmlns:p14="http://schemas.microsoft.com/office/powerpoint/2010/main" val="31225610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B21F51-B800-6202-5E41-0051502FD9AC}"/>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55E1FE25-0487-D987-8853-B69319C9FE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3CFD124-8EE4-11D3-2D16-89440B7CDF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16DD09E-0B15-44E2-BDC7-C1E85C126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24DCC1AE-160C-BA0F-F3E6-79D46E7B40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C626FD58-49FB-D440-02AB-3C9E9BF846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C2D02C25-EDC4-1DF1-2A0E-BE06774BCE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281C92A-F191-D040-52F1-6DB43CDA5388}"/>
              </a:ext>
            </a:extLst>
          </p:cNvPr>
          <p:cNvSpPr>
            <a:spLocks noGrp="1"/>
          </p:cNvSpPr>
          <p:nvPr>
            <p:ph type="title"/>
          </p:nvPr>
        </p:nvSpPr>
        <p:spPr>
          <a:xfrm>
            <a:off x="826396" y="586855"/>
            <a:ext cx="4230100" cy="3387497"/>
          </a:xfrm>
        </p:spPr>
        <p:txBody>
          <a:bodyPr anchor="b">
            <a:normAutofit/>
          </a:bodyPr>
          <a:lstStyle/>
          <a:p>
            <a:pPr algn="r"/>
            <a:r>
              <a:rPr lang="en-US" sz="4000">
                <a:solidFill>
                  <a:srgbClr val="FFFFFF"/>
                </a:solidFill>
              </a:rPr>
              <a:t>Problem Identification</a:t>
            </a:r>
          </a:p>
        </p:txBody>
      </p:sp>
      <p:sp>
        <p:nvSpPr>
          <p:cNvPr id="3" name="Content Placeholder 2">
            <a:extLst>
              <a:ext uri="{FF2B5EF4-FFF2-40B4-BE49-F238E27FC236}">
                <a16:creationId xmlns:a16="http://schemas.microsoft.com/office/drawing/2014/main" id="{F0BAA212-9635-1654-8055-6BD0F078F7ED}"/>
              </a:ext>
            </a:extLst>
          </p:cNvPr>
          <p:cNvSpPr>
            <a:spLocks noGrp="1"/>
          </p:cNvSpPr>
          <p:nvPr>
            <p:ph idx="1"/>
          </p:nvPr>
        </p:nvSpPr>
        <p:spPr>
          <a:xfrm>
            <a:off x="5687568" y="649480"/>
            <a:ext cx="5678037" cy="5546047"/>
          </a:xfrm>
        </p:spPr>
        <p:txBody>
          <a:bodyPr anchor="ctr">
            <a:normAutofit/>
          </a:bodyPr>
          <a:lstStyle/>
          <a:p>
            <a:pPr marL="0" indent="0">
              <a:buNone/>
            </a:pPr>
            <a:r>
              <a:rPr lang="en-US" sz="1400" dirty="0">
                <a:latin typeface="Times New Roman" panose="02020603050405020304" pitchFamily="18" charset="0"/>
                <a:cs typeface="Times New Roman" panose="02020603050405020304" pitchFamily="18" charset="0"/>
              </a:rPr>
              <a:t>Further assessment underlines these key elements that are part of Problem Identification:</a:t>
            </a:r>
          </a:p>
          <a:p>
            <a:pPr marL="0" indent="0">
              <a:buNone/>
            </a:pPr>
            <a:endParaRPr lang="en-US" sz="1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1400" dirty="0">
                <a:latin typeface="Times New Roman" panose="02020603050405020304" pitchFamily="18" charset="0"/>
                <a:cs typeface="Times New Roman" panose="02020603050405020304" pitchFamily="18" charset="0"/>
              </a:rPr>
              <a:t>Constraints to be considered</a:t>
            </a:r>
          </a:p>
          <a:p>
            <a:r>
              <a:rPr lang="en-US" sz="1400" dirty="0">
                <a:latin typeface="Times New Roman" panose="02020603050405020304" pitchFamily="18" charset="0"/>
                <a:cs typeface="Times New Roman" panose="02020603050405020304" pitchFamily="18" charset="0"/>
              </a:rPr>
              <a:t>The new chair lift adds $1.54 million in annual operating expenses. Any proposed solution must offset or justify this cost increase through improved pricing, higher ticket sales, or operational efficiency.</a:t>
            </a:r>
            <a:endParaRPr lang="en-US" sz="1400" b="0" dirty="0">
              <a:effectLst/>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The resort currently charges a premium above market average, which means its prices are already on the high end. Therefore, raising prices further could reduce demand or alienate cost-sensitive visitors.</a:t>
            </a:r>
            <a:endParaRPr lang="en-US" sz="1400" b="0" dirty="0">
              <a:effectLst/>
              <a:latin typeface="Times New Roman" panose="02020603050405020304" pitchFamily="18" charset="0"/>
              <a:cs typeface="Times New Roman" panose="02020603050405020304" pitchFamily="18" charset="0"/>
            </a:endParaRPr>
          </a:p>
          <a:p>
            <a:pPr>
              <a:buFont typeface="Wingdings" panose="05000000000000000000" pitchFamily="2" charset="2"/>
              <a:buChar char="ü"/>
            </a:pPr>
            <a:r>
              <a:rPr lang="en-US" sz="1400" dirty="0">
                <a:latin typeface="Times New Roman" panose="02020603050405020304" pitchFamily="18" charset="0"/>
                <a:cs typeface="Times New Roman" panose="02020603050405020304" pitchFamily="18" charset="0"/>
              </a:rPr>
              <a:t>Criteria for success</a:t>
            </a:r>
          </a:p>
          <a:p>
            <a:r>
              <a:rPr lang="en-US" sz="1400" dirty="0">
                <a:latin typeface="Times New Roman" panose="02020603050405020304" pitchFamily="18" charset="0"/>
                <a:cs typeface="Times New Roman" panose="02020603050405020304" pitchFamily="18" charset="0"/>
              </a:rPr>
              <a:t>Optimal ticket pricing that is based on data driven analysis and that reflects true value of facilities and services.</a:t>
            </a:r>
          </a:p>
          <a:p>
            <a:r>
              <a:rPr lang="en-US" sz="1400" dirty="0">
                <a:latin typeface="Times New Roman" panose="02020603050405020304" pitchFamily="18" charset="0"/>
                <a:cs typeface="Times New Roman" panose="02020603050405020304" pitchFamily="18" charset="0"/>
              </a:rPr>
              <a:t>Business is able to gain clear insights into which facilities/services that drive the most value so that this analysis guides future investment decisions</a:t>
            </a:r>
          </a:p>
          <a:p>
            <a:pPr marL="0" indent="0">
              <a:buNone/>
            </a:pPr>
            <a:br>
              <a:rPr lang="en-US" sz="1400" dirty="0">
                <a:latin typeface="Times New Roman" panose="02020603050405020304" pitchFamily="18" charset="0"/>
                <a:cs typeface="Times New Roman" panose="02020603050405020304" pitchFamily="18" charset="0"/>
              </a:rPr>
            </a:br>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12429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B9E4CCE-026C-6B0D-3535-B649EA52D900}"/>
              </a:ext>
            </a:extLst>
          </p:cNvPr>
          <p:cNvSpPr>
            <a:spLocks noGrp="1"/>
          </p:cNvSpPr>
          <p:nvPr>
            <p:ph type="title"/>
          </p:nvPr>
        </p:nvSpPr>
        <p:spPr>
          <a:xfrm>
            <a:off x="826396" y="586855"/>
            <a:ext cx="4230100" cy="3387497"/>
          </a:xfrm>
        </p:spPr>
        <p:txBody>
          <a:bodyPr anchor="b">
            <a:normAutofit/>
          </a:bodyPr>
          <a:lstStyle/>
          <a:p>
            <a:pPr algn="r"/>
            <a:r>
              <a:rPr lang="en-US" sz="4000" dirty="0">
                <a:solidFill>
                  <a:srgbClr val="FFFFFF"/>
                </a:solidFill>
              </a:rPr>
              <a:t>Recommendation &amp; Key findings</a:t>
            </a:r>
          </a:p>
        </p:txBody>
      </p:sp>
      <p:sp>
        <p:nvSpPr>
          <p:cNvPr id="3" name="Content Placeholder 2">
            <a:extLst>
              <a:ext uri="{FF2B5EF4-FFF2-40B4-BE49-F238E27FC236}">
                <a16:creationId xmlns:a16="http://schemas.microsoft.com/office/drawing/2014/main" id="{913C530F-1769-A7F6-0351-115460FFE7D8}"/>
              </a:ext>
            </a:extLst>
          </p:cNvPr>
          <p:cNvSpPr>
            <a:spLocks noGrp="1"/>
          </p:cNvSpPr>
          <p:nvPr>
            <p:ph idx="1"/>
          </p:nvPr>
        </p:nvSpPr>
        <p:spPr>
          <a:xfrm>
            <a:off x="5760720" y="649480"/>
            <a:ext cx="5604885" cy="5546047"/>
          </a:xfrm>
        </p:spPr>
        <p:txBody>
          <a:bodyPr anchor="ctr">
            <a:normAutofit/>
          </a:bodyPr>
          <a:lstStyle/>
          <a:p>
            <a:pPr marL="0" indent="0">
              <a:buNone/>
            </a:pPr>
            <a:r>
              <a:rPr lang="en-US" sz="1400" dirty="0">
                <a:latin typeface="Times New Roman" panose="02020603050405020304" pitchFamily="18" charset="0"/>
                <a:cs typeface="Times New Roman" panose="02020603050405020304" pitchFamily="18" charset="0"/>
              </a:rPr>
              <a:t>By implementing Exploratory Data Analysis techniques, it was found that Adult Weekend Ticket Price would be the Target feature to achieve the desired revenue and this feature was positively corelated to the following features in a ski resort:</a:t>
            </a:r>
          </a:p>
          <a:p>
            <a:pPr marL="0" indent="0">
              <a:buNone/>
            </a:pPr>
            <a:endParaRPr lang="en-US" sz="1400" dirty="0">
              <a:latin typeface="Times New Roman" panose="02020603050405020304" pitchFamily="18" charset="0"/>
              <a:cs typeface="Times New Roman" panose="02020603050405020304" pitchFamily="18" charset="0"/>
            </a:endParaRPr>
          </a:p>
          <a:p>
            <a:pPr>
              <a:buFontTx/>
              <a:buChar char="-"/>
            </a:pPr>
            <a:r>
              <a:rPr lang="en-US" sz="1400" dirty="0" err="1">
                <a:latin typeface="Times New Roman" panose="02020603050405020304" pitchFamily="18" charset="0"/>
                <a:cs typeface="Times New Roman" panose="02020603050405020304" pitchFamily="18" charset="0"/>
              </a:rPr>
              <a:t>fastQuads</a:t>
            </a:r>
            <a:endParaRPr lang="en-US" sz="1400" dirty="0">
              <a:latin typeface="Times New Roman" panose="02020603050405020304" pitchFamily="18" charset="0"/>
              <a:cs typeface="Times New Roman" panose="02020603050405020304" pitchFamily="18" charset="0"/>
            </a:endParaRPr>
          </a:p>
          <a:p>
            <a:pPr>
              <a:buFontTx/>
              <a:buChar char="-"/>
            </a:pPr>
            <a:r>
              <a:rPr lang="en-US" sz="1400" dirty="0">
                <a:latin typeface="Times New Roman" panose="02020603050405020304" pitchFamily="18" charset="0"/>
                <a:cs typeface="Times New Roman" panose="02020603050405020304" pitchFamily="18" charset="0"/>
              </a:rPr>
              <a:t>Runs</a:t>
            </a:r>
          </a:p>
          <a:p>
            <a:pPr>
              <a:buFontTx/>
              <a:buChar char="-"/>
            </a:pPr>
            <a:r>
              <a:rPr lang="en-US" sz="1400" dirty="0" err="1">
                <a:latin typeface="Times New Roman" panose="02020603050405020304" pitchFamily="18" charset="0"/>
                <a:cs typeface="Times New Roman" panose="02020603050405020304" pitchFamily="18" charset="0"/>
              </a:rPr>
              <a:t>total_chairs</a:t>
            </a:r>
            <a:endParaRPr lang="en-US" sz="1400" dirty="0">
              <a:latin typeface="Times New Roman" panose="02020603050405020304" pitchFamily="18" charset="0"/>
              <a:cs typeface="Times New Roman" panose="02020603050405020304" pitchFamily="18" charset="0"/>
            </a:endParaRPr>
          </a:p>
          <a:p>
            <a:pPr>
              <a:buFontTx/>
              <a:buChar char="-"/>
            </a:pPr>
            <a:r>
              <a:rPr lang="en-US" sz="1400" dirty="0">
                <a:latin typeface="Times New Roman" panose="02020603050405020304" pitchFamily="18" charset="0"/>
                <a:cs typeface="Times New Roman" panose="02020603050405020304" pitchFamily="18" charset="0"/>
              </a:rPr>
              <a:t>resorts_per_100kcapita</a:t>
            </a:r>
          </a:p>
          <a:p>
            <a:pPr>
              <a:buFontTx/>
              <a:buChar char="-"/>
            </a:pPr>
            <a:r>
              <a:rPr lang="en-US" sz="1400" dirty="0">
                <a:latin typeface="Times New Roman" panose="02020603050405020304" pitchFamily="18" charset="0"/>
                <a:cs typeface="Times New Roman" panose="02020603050405020304" pitchFamily="18" charset="0"/>
              </a:rPr>
              <a:t>Runs</a:t>
            </a:r>
          </a:p>
          <a:p>
            <a:pPr>
              <a:buFontTx/>
              <a:buChar char="-"/>
            </a:pPr>
            <a:r>
              <a:rPr lang="en-US" sz="1400" dirty="0" err="1">
                <a:latin typeface="Times New Roman" panose="02020603050405020304" pitchFamily="18" charset="0"/>
                <a:cs typeface="Times New Roman" panose="02020603050405020304" pitchFamily="18" charset="0"/>
              </a:rPr>
              <a:t>total_chairs</a:t>
            </a:r>
            <a:endParaRPr lang="en-US" sz="1400" dirty="0">
              <a:latin typeface="Times New Roman" panose="02020603050405020304" pitchFamily="18" charset="0"/>
              <a:cs typeface="Times New Roman" panose="02020603050405020304" pitchFamily="18" charset="0"/>
            </a:endParaRPr>
          </a:p>
          <a:p>
            <a:pPr>
              <a:buFontTx/>
              <a:buChar char="-"/>
            </a:pPr>
            <a:r>
              <a:rPr lang="en-US" sz="1400" dirty="0" err="1">
                <a:latin typeface="Times New Roman" panose="02020603050405020304" pitchFamily="18" charset="0"/>
                <a:cs typeface="Times New Roman" panose="02020603050405020304" pitchFamily="18" charset="0"/>
              </a:rPr>
              <a:t>vertical_drop</a:t>
            </a:r>
            <a:endParaRPr lang="en-US" sz="1400" dirty="0">
              <a:latin typeface="Times New Roman" panose="02020603050405020304" pitchFamily="18" charset="0"/>
              <a:cs typeface="Times New Roman" panose="02020603050405020304" pitchFamily="18" charset="0"/>
            </a:endParaRPr>
          </a:p>
          <a:p>
            <a:endParaRPr lang="en-US"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2667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F109B78-B839-D6AA-C22D-1D4155857FF7}"/>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E6165E66-3AEC-CD57-85C6-954DBBC9DC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CBBB644-FA71-9275-9082-96CE73C2EA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DBC38EE-7A89-0E1E-FC6E-F678B5A32E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660CF6CD-3B6C-7A45-A799-2D6E9D50CE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4EC6980E-55C8-8B41-F009-A5C2A80395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D11D4B56-6B6F-4EA9-66BA-7126A5193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D641882-E440-91AA-7ED4-9A2CD40A3F3D}"/>
              </a:ext>
            </a:extLst>
          </p:cNvPr>
          <p:cNvSpPr>
            <a:spLocks noGrp="1"/>
          </p:cNvSpPr>
          <p:nvPr>
            <p:ph type="title"/>
          </p:nvPr>
        </p:nvSpPr>
        <p:spPr>
          <a:xfrm>
            <a:off x="826396" y="586855"/>
            <a:ext cx="4230100" cy="3387497"/>
          </a:xfrm>
        </p:spPr>
        <p:txBody>
          <a:bodyPr anchor="b">
            <a:normAutofit/>
          </a:bodyPr>
          <a:lstStyle/>
          <a:p>
            <a:pPr algn="r"/>
            <a:r>
              <a:rPr lang="en-US" sz="4000" dirty="0">
                <a:solidFill>
                  <a:schemeClr val="bg1"/>
                </a:solidFill>
              </a:rPr>
              <a:t>Modeling results and analysis</a:t>
            </a:r>
          </a:p>
        </p:txBody>
      </p:sp>
      <p:sp>
        <p:nvSpPr>
          <p:cNvPr id="3" name="Content Placeholder 2">
            <a:extLst>
              <a:ext uri="{FF2B5EF4-FFF2-40B4-BE49-F238E27FC236}">
                <a16:creationId xmlns:a16="http://schemas.microsoft.com/office/drawing/2014/main" id="{1B741A0F-CCE1-3A0B-E617-AE45F7544057}"/>
              </a:ext>
            </a:extLst>
          </p:cNvPr>
          <p:cNvSpPr>
            <a:spLocks noGrp="1"/>
          </p:cNvSpPr>
          <p:nvPr>
            <p:ph idx="1"/>
          </p:nvPr>
        </p:nvSpPr>
        <p:spPr>
          <a:xfrm>
            <a:off x="5689601" y="144655"/>
            <a:ext cx="6388099" cy="3989195"/>
          </a:xfrm>
        </p:spPr>
        <p:txBody>
          <a:bodyPr anchor="ctr">
            <a:normAutofit/>
          </a:bodyPr>
          <a:lstStyle/>
          <a:p>
            <a:pPr marL="0" indent="0">
              <a:buNone/>
            </a:pPr>
            <a:r>
              <a:rPr lang="en-US" sz="1400" dirty="0">
                <a:latin typeface="Times New Roman" panose="02020603050405020304" pitchFamily="18" charset="0"/>
                <a:cs typeface="Times New Roman" panose="02020603050405020304" pitchFamily="18" charset="0"/>
              </a:rPr>
              <a:t>A linear regression model (model #1) and  Random forest regression model (model #2) were evaluated &amp; compared using metrics such as R-squared, Mean Absolute Error, and Mean Squared Error along with applying Cross-Validation.  As expected, during preprocessing &amp; algorithm testing, the best parameters in both models were nearly equivalent</a:t>
            </a:r>
          </a:p>
          <a:p>
            <a:r>
              <a:rPr lang="en-US" sz="1400" dirty="0" err="1">
                <a:latin typeface="Times New Roman" panose="02020603050405020304" pitchFamily="18" charset="0"/>
                <a:cs typeface="Times New Roman" panose="02020603050405020304" pitchFamily="18" charset="0"/>
              </a:rPr>
              <a:t>vertical_drop</a:t>
            </a: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Snow </a:t>
            </a:r>
            <a:r>
              <a:rPr lang="en-US" sz="1400" dirty="0" err="1">
                <a:latin typeface="Times New Roman" panose="02020603050405020304" pitchFamily="18" charset="0"/>
                <a:cs typeface="Times New Roman" panose="02020603050405020304" pitchFamily="18" charset="0"/>
              </a:rPr>
              <a:t>Making_ac</a:t>
            </a:r>
            <a:endParaRPr lang="en-US" sz="1400" dirty="0">
              <a:latin typeface="Times New Roman" panose="02020603050405020304" pitchFamily="18" charset="0"/>
              <a:cs typeface="Times New Roman" panose="02020603050405020304" pitchFamily="18" charset="0"/>
            </a:endParaRPr>
          </a:p>
          <a:p>
            <a:r>
              <a:rPr lang="en-US" sz="1400" dirty="0" err="1">
                <a:latin typeface="Times New Roman" panose="02020603050405020304" pitchFamily="18" charset="0"/>
                <a:cs typeface="Times New Roman" panose="02020603050405020304" pitchFamily="18" charset="0"/>
              </a:rPr>
              <a:t>total_chairs</a:t>
            </a:r>
            <a:endParaRPr lang="en-US" sz="1400" dirty="0">
              <a:latin typeface="Times New Roman" panose="02020603050405020304" pitchFamily="18" charset="0"/>
              <a:cs typeface="Times New Roman" panose="02020603050405020304" pitchFamily="18" charset="0"/>
            </a:endParaRPr>
          </a:p>
          <a:p>
            <a:r>
              <a:rPr lang="en-US" sz="1400" dirty="0" err="1">
                <a:latin typeface="Times New Roman" panose="02020603050405020304" pitchFamily="18" charset="0"/>
                <a:cs typeface="Times New Roman" panose="02020603050405020304" pitchFamily="18" charset="0"/>
              </a:rPr>
              <a:t>fastQuads</a:t>
            </a: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Runs</a:t>
            </a:r>
          </a:p>
          <a:p>
            <a:r>
              <a:rPr lang="en-US" sz="1400" dirty="0" err="1">
                <a:latin typeface="Times New Roman" panose="02020603050405020304" pitchFamily="18" charset="0"/>
                <a:cs typeface="Times New Roman" panose="02020603050405020304" pitchFamily="18" charset="0"/>
              </a:rPr>
              <a:t>LongestRun_mi</a:t>
            </a:r>
            <a:endParaRPr lang="en-US" sz="1400" dirty="0">
              <a:latin typeface="Times New Roman" panose="02020603050405020304" pitchFamily="18" charset="0"/>
              <a:cs typeface="Times New Roman" panose="02020603050405020304" pitchFamily="18" charset="0"/>
            </a:endParaRPr>
          </a:p>
          <a:p>
            <a:r>
              <a:rPr lang="en-US" sz="1400" dirty="0">
                <a:latin typeface="Times New Roman" panose="02020603050405020304" pitchFamily="18" charset="0"/>
                <a:cs typeface="Times New Roman" panose="02020603050405020304" pitchFamily="18" charset="0"/>
              </a:rPr>
              <a:t>trams</a:t>
            </a:r>
          </a:p>
          <a:p>
            <a:r>
              <a:rPr lang="en-US" sz="1400" dirty="0" err="1">
                <a:latin typeface="Times New Roman" panose="02020603050405020304" pitchFamily="18" charset="0"/>
                <a:cs typeface="Times New Roman" panose="02020603050405020304" pitchFamily="18" charset="0"/>
              </a:rPr>
              <a:t>SkiableTerrain_ac</a:t>
            </a:r>
            <a:endParaRPr lang="en-US" sz="1400" dirty="0">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p:txBody>
      </p:sp>
      <p:pic>
        <p:nvPicPr>
          <p:cNvPr id="4" name="Content Placeholder 4">
            <a:extLst>
              <a:ext uri="{FF2B5EF4-FFF2-40B4-BE49-F238E27FC236}">
                <a16:creationId xmlns:a16="http://schemas.microsoft.com/office/drawing/2014/main" id="{6A18E6FA-11AA-1148-21F7-DEA3AC9B43D0}"/>
              </a:ext>
            </a:extLst>
          </p:cNvPr>
          <p:cNvPicPr>
            <a:picLocks noChangeAspect="1"/>
          </p:cNvPicPr>
          <p:nvPr/>
        </p:nvPicPr>
        <p:blipFill>
          <a:blip r:embed="rId2"/>
          <a:stretch>
            <a:fillRect/>
          </a:stretch>
        </p:blipFill>
        <p:spPr>
          <a:xfrm>
            <a:off x="6226175" y="4133850"/>
            <a:ext cx="4862513" cy="2724147"/>
          </a:xfrm>
          <a:prstGeom prst="rect">
            <a:avLst/>
          </a:prstGeom>
        </p:spPr>
      </p:pic>
    </p:spTree>
    <p:extLst>
      <p:ext uri="{BB962C8B-B14F-4D97-AF65-F5344CB8AC3E}">
        <p14:creationId xmlns:p14="http://schemas.microsoft.com/office/powerpoint/2010/main" val="20367682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E2E7B8D-A597-28A6-444F-7A27E2B025A4}"/>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FC2F2A7B-2E3F-2E80-657F-E05C3384CB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50733EAB-73DE-34DF-6E8E-BAA28DFEE8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3B06776-358E-F0D0-253E-A6F131A8CB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A0D259B5-8165-9101-4A93-806244CFED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FF15C47D-036D-1188-D829-9591E5524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39472102-E0FA-353C-51F7-A106F38AF9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9D13E7B-4620-ACBB-A539-7A31BD722004}"/>
              </a:ext>
            </a:extLst>
          </p:cNvPr>
          <p:cNvSpPr>
            <a:spLocks noGrp="1"/>
          </p:cNvSpPr>
          <p:nvPr>
            <p:ph type="title"/>
          </p:nvPr>
        </p:nvSpPr>
        <p:spPr>
          <a:xfrm>
            <a:off x="826396" y="586855"/>
            <a:ext cx="4230100" cy="3387497"/>
          </a:xfrm>
        </p:spPr>
        <p:txBody>
          <a:bodyPr anchor="b">
            <a:normAutofit/>
          </a:bodyPr>
          <a:lstStyle/>
          <a:p>
            <a:pPr algn="r"/>
            <a:r>
              <a:rPr lang="en-US" sz="4000" dirty="0">
                <a:solidFill>
                  <a:schemeClr val="bg1"/>
                </a:solidFill>
              </a:rPr>
              <a:t>Modeling results and analysis</a:t>
            </a:r>
          </a:p>
        </p:txBody>
      </p:sp>
      <p:sp>
        <p:nvSpPr>
          <p:cNvPr id="9" name="Content Placeholder 8">
            <a:extLst>
              <a:ext uri="{FF2B5EF4-FFF2-40B4-BE49-F238E27FC236}">
                <a16:creationId xmlns:a16="http://schemas.microsoft.com/office/drawing/2014/main" id="{3F413912-D1B3-E2EE-346B-9AF74DCF5F1C}"/>
              </a:ext>
            </a:extLst>
          </p:cNvPr>
          <p:cNvSpPr>
            <a:spLocks noGrp="1"/>
          </p:cNvSpPr>
          <p:nvPr>
            <p:ph idx="1"/>
          </p:nvPr>
        </p:nvSpPr>
        <p:spPr>
          <a:xfrm>
            <a:off x="5724525" y="104933"/>
            <a:ext cx="6039682" cy="6369019"/>
          </a:xfrm>
        </p:spPr>
        <p:txBody>
          <a:bodyPr>
            <a:normAutofit/>
          </a:bodyPr>
          <a:lstStyle/>
          <a:p>
            <a:pPr marL="0" indent="0">
              <a:buNone/>
            </a:pPr>
            <a:r>
              <a:rPr lang="en-US" sz="1400" dirty="0">
                <a:latin typeface="Times New Roman" panose="02020603050405020304" pitchFamily="18" charset="0"/>
                <a:cs typeface="Times New Roman" panose="02020603050405020304" pitchFamily="18" charset="0"/>
              </a:rPr>
              <a:t>To better correlate how features/facilities support a given ticket price the models were tested for the following scenarios:</a:t>
            </a:r>
          </a:p>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Scenario 1: Permanently closing down up to 10 of the least used runs. </a:t>
            </a:r>
          </a:p>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Scenario 2: Increase the vertical drop by adding a run to a point 150 feet lower down but requiring the installation of an additional chair lift to bring skiers back up, without additional snow making coverage</a:t>
            </a:r>
          </a:p>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Scenario 3: Same as number 2, but adding 2 acres of snow making cover</a:t>
            </a:r>
          </a:p>
          <a:p>
            <a:pPr marL="342900" indent="-342900">
              <a:buFont typeface="+mj-lt"/>
              <a:buAutoNum type="arabicPeriod"/>
            </a:pPr>
            <a:r>
              <a:rPr lang="en-US" sz="1400" dirty="0">
                <a:latin typeface="Times New Roman" panose="02020603050405020304" pitchFamily="18" charset="0"/>
                <a:cs typeface="Times New Roman" panose="02020603050405020304" pitchFamily="18" charset="0"/>
              </a:rPr>
              <a:t>Scenario 4: Increase the longest run by 0.2 mile to boast 3.5 miles length, requiring an additional snow making coverage of 4 acres</a:t>
            </a:r>
          </a:p>
          <a:p>
            <a:pPr marL="0" indent="0">
              <a:buNone/>
            </a:pPr>
            <a:r>
              <a:rPr lang="en-US" sz="1400" dirty="0">
                <a:latin typeface="Times New Roman" panose="02020603050405020304" pitchFamily="18" charset="0"/>
                <a:cs typeface="Times New Roman" panose="02020603050405020304" pitchFamily="18" charset="0"/>
              </a:rPr>
              <a:t>Results for each of the scenarios were:</a:t>
            </a:r>
          </a:p>
          <a:p>
            <a:pPr>
              <a:buFont typeface="Wingdings" panose="05000000000000000000" pitchFamily="2" charset="2"/>
              <a:buChar char="ü"/>
            </a:pPr>
            <a:r>
              <a:rPr lang="en-US" sz="1400" dirty="0">
                <a:latin typeface="Times New Roman" panose="02020603050405020304" pitchFamily="18" charset="0"/>
                <a:cs typeface="Times New Roman" panose="02020603050405020304" pitchFamily="18" charset="0"/>
              </a:rPr>
              <a:t>Scenario 1 – The model says closing one run makes no difference. Closing 2 and 3 successively reduces support for ticket price and so revenue. If Big Mountain closes down 3 runs, it seems they may as well close down 4 or 5 as there's no further loss in ticket price. Increasing the closures down to 6 or more leads to a large drop.</a:t>
            </a: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5D9F31E2-367B-B615-E65F-216BED8CBAC5}"/>
              </a:ext>
            </a:extLst>
          </p:cNvPr>
          <p:cNvPicPr>
            <a:picLocks noChangeAspect="1"/>
          </p:cNvPicPr>
          <p:nvPr/>
        </p:nvPicPr>
        <p:blipFill>
          <a:blip r:embed="rId2"/>
          <a:stretch>
            <a:fillRect/>
          </a:stretch>
        </p:blipFill>
        <p:spPr>
          <a:xfrm>
            <a:off x="5825109" y="4070259"/>
            <a:ext cx="4779652" cy="2403693"/>
          </a:xfrm>
          <a:prstGeom prst="rect">
            <a:avLst/>
          </a:prstGeom>
        </p:spPr>
      </p:pic>
    </p:spTree>
    <p:extLst>
      <p:ext uri="{BB962C8B-B14F-4D97-AF65-F5344CB8AC3E}">
        <p14:creationId xmlns:p14="http://schemas.microsoft.com/office/powerpoint/2010/main" val="2172870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14751DC-DD68-FAEE-4F1E-7DF2FF80BC6D}"/>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BA734218-DB11-EA88-C3AE-876D50CCB7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865FD35-4546-8F37-CC91-D4EF829D1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62344AD-C5B7-E2A1-204D-CA54806B19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5DD19BD-10E8-FB36-B679-F862F743D4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6E2D7E33-14C0-6DF9-215C-D610081D8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46B0272D-8790-99A3-2A1D-6739BD19BB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ABB35C1-BE94-C79B-738C-380008CC51E1}"/>
              </a:ext>
            </a:extLst>
          </p:cNvPr>
          <p:cNvSpPr>
            <a:spLocks noGrp="1"/>
          </p:cNvSpPr>
          <p:nvPr>
            <p:ph type="title"/>
          </p:nvPr>
        </p:nvSpPr>
        <p:spPr>
          <a:xfrm>
            <a:off x="826396" y="586855"/>
            <a:ext cx="4230100" cy="3387497"/>
          </a:xfrm>
        </p:spPr>
        <p:txBody>
          <a:bodyPr anchor="b">
            <a:normAutofit/>
          </a:bodyPr>
          <a:lstStyle/>
          <a:p>
            <a:pPr algn="r"/>
            <a:r>
              <a:rPr lang="en-US" sz="4000" dirty="0">
                <a:solidFill>
                  <a:schemeClr val="bg1"/>
                </a:solidFill>
              </a:rPr>
              <a:t>Modeling results and analysis</a:t>
            </a:r>
          </a:p>
        </p:txBody>
      </p:sp>
      <p:sp>
        <p:nvSpPr>
          <p:cNvPr id="3" name="Content Placeholder 2">
            <a:extLst>
              <a:ext uri="{FF2B5EF4-FFF2-40B4-BE49-F238E27FC236}">
                <a16:creationId xmlns:a16="http://schemas.microsoft.com/office/drawing/2014/main" id="{F29DED85-FDDF-77DB-1145-19E76DD0464D}"/>
              </a:ext>
            </a:extLst>
          </p:cNvPr>
          <p:cNvSpPr>
            <a:spLocks noGrp="1"/>
          </p:cNvSpPr>
          <p:nvPr>
            <p:ph idx="1"/>
          </p:nvPr>
        </p:nvSpPr>
        <p:spPr>
          <a:xfrm>
            <a:off x="6096000" y="649480"/>
            <a:ext cx="5269605" cy="5546047"/>
          </a:xfrm>
        </p:spPr>
        <p:txBody>
          <a:bodyPr anchor="ctr">
            <a:normAutofit/>
          </a:bodyPr>
          <a:lstStyle/>
          <a:p>
            <a:pPr>
              <a:lnSpc>
                <a:spcPct val="100000"/>
              </a:lnSpc>
              <a:buFont typeface="Wingdings" panose="05000000000000000000" pitchFamily="2" charset="2"/>
              <a:buChar char="ü"/>
            </a:pPr>
            <a:r>
              <a:rPr lang="en-US" sz="1400" dirty="0">
                <a:latin typeface="Times New Roman" panose="02020603050405020304" pitchFamily="18" charset="0"/>
                <a:cs typeface="Times New Roman" panose="02020603050405020304" pitchFamily="18" charset="0"/>
              </a:rPr>
              <a:t>Scenario 2</a:t>
            </a:r>
          </a:p>
          <a:p>
            <a:pPr latinLnBrk="1">
              <a:lnSpc>
                <a:spcPct val="100000"/>
              </a:lnSpc>
            </a:pPr>
            <a:r>
              <a:rPr lang="en-US" sz="1400" dirty="0">
                <a:latin typeface="Times New Roman" panose="02020603050405020304" pitchFamily="18" charset="0"/>
                <a:cs typeface="Times New Roman" panose="02020603050405020304" pitchFamily="18" charset="0"/>
              </a:rPr>
              <a:t>This scenario increases support for ticket price by $3.00</a:t>
            </a:r>
          </a:p>
          <a:p>
            <a:pPr latinLnBrk="1">
              <a:lnSpc>
                <a:spcPct val="100000"/>
              </a:lnSpc>
            </a:pPr>
            <a:r>
              <a:rPr lang="en-US" sz="1400" dirty="0">
                <a:latin typeface="Times New Roman" panose="02020603050405020304" pitchFamily="18" charset="0"/>
                <a:cs typeface="Times New Roman" panose="02020603050405020304" pitchFamily="18" charset="0"/>
              </a:rPr>
              <a:t>Over the season, this could be expected to amount to $5250000</a:t>
            </a:r>
          </a:p>
          <a:p>
            <a:pPr marL="0" indent="0" latinLnBrk="1">
              <a:lnSpc>
                <a:spcPct val="100000"/>
              </a:lnSpc>
              <a:buNone/>
            </a:pPr>
            <a:endParaRPr lang="en-US" sz="1400" dirty="0">
              <a:latin typeface="Times New Roman" panose="02020603050405020304" pitchFamily="18" charset="0"/>
              <a:cs typeface="Times New Roman" panose="02020603050405020304" pitchFamily="18" charset="0"/>
            </a:endParaRPr>
          </a:p>
          <a:p>
            <a:pPr>
              <a:lnSpc>
                <a:spcPct val="100000"/>
              </a:lnSpc>
              <a:buFont typeface="Wingdings" panose="05000000000000000000" pitchFamily="2" charset="2"/>
              <a:buChar char="ü"/>
            </a:pPr>
            <a:r>
              <a:rPr lang="en-US" sz="1400" dirty="0">
                <a:latin typeface="Times New Roman" panose="02020603050405020304" pitchFamily="18" charset="0"/>
                <a:cs typeface="Times New Roman" panose="02020603050405020304" pitchFamily="18" charset="0"/>
              </a:rPr>
              <a:t>Scenario 3</a:t>
            </a:r>
          </a:p>
          <a:p>
            <a:pPr latinLnBrk="1">
              <a:lnSpc>
                <a:spcPct val="100000"/>
              </a:lnSpc>
            </a:pPr>
            <a:r>
              <a:rPr lang="en-US" sz="1400" dirty="0">
                <a:latin typeface="Times New Roman" panose="02020603050405020304" pitchFamily="18" charset="0"/>
                <a:cs typeface="Times New Roman" panose="02020603050405020304" pitchFamily="18" charset="0"/>
              </a:rPr>
              <a:t>This scenario increases support for ticket price by $3.00</a:t>
            </a:r>
          </a:p>
          <a:p>
            <a:pPr latinLnBrk="1">
              <a:lnSpc>
                <a:spcPct val="100000"/>
              </a:lnSpc>
            </a:pPr>
            <a:r>
              <a:rPr lang="en-US" sz="1400" dirty="0">
                <a:latin typeface="Times New Roman" panose="02020603050405020304" pitchFamily="18" charset="0"/>
                <a:cs typeface="Times New Roman" panose="02020603050405020304" pitchFamily="18" charset="0"/>
              </a:rPr>
              <a:t>Over the season, this could be expected to amount to $5250000</a:t>
            </a:r>
          </a:p>
          <a:p>
            <a:pPr>
              <a:lnSpc>
                <a:spcPct val="100000"/>
              </a:lnSpc>
              <a:buFont typeface="Wingdings" panose="05000000000000000000" pitchFamily="2" charset="2"/>
              <a:buChar char="ü"/>
            </a:pPr>
            <a:r>
              <a:rPr lang="en-US" sz="1400" dirty="0">
                <a:latin typeface="Times New Roman" panose="02020603050405020304" pitchFamily="18" charset="0"/>
                <a:cs typeface="Times New Roman" panose="02020603050405020304" pitchFamily="18" charset="0"/>
              </a:rPr>
              <a:t>Scenario 3</a:t>
            </a:r>
          </a:p>
          <a:p>
            <a:pPr>
              <a:lnSpc>
                <a:spcPct val="100000"/>
              </a:lnSpc>
            </a:pPr>
            <a:r>
              <a:rPr lang="en-US" sz="1400" dirty="0">
                <a:latin typeface="Times New Roman" panose="02020603050405020304" pitchFamily="18" charset="0"/>
                <a:cs typeface="Times New Roman" panose="02020603050405020304" pitchFamily="18" charset="0"/>
              </a:rPr>
              <a:t>No difference whatsoever. Although the longest run feature was used in the linear model, the random forest model (the one we chose because of its better performance) only has longest run way down in the feature importance list.</a:t>
            </a:r>
          </a:p>
        </p:txBody>
      </p:sp>
    </p:spTree>
    <p:extLst>
      <p:ext uri="{BB962C8B-B14F-4D97-AF65-F5344CB8AC3E}">
        <p14:creationId xmlns:p14="http://schemas.microsoft.com/office/powerpoint/2010/main" val="36584683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6E0C6F0-0A84-BE21-9D6E-A8EC7EC3533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4B31B7-8EB2-0A52-4E6B-599DC10B19BE}"/>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Summary and Conclusion</a:t>
            </a:r>
          </a:p>
        </p:txBody>
      </p:sp>
      <p:sp>
        <p:nvSpPr>
          <p:cNvPr id="3" name="Content Placeholder 2">
            <a:extLst>
              <a:ext uri="{FF2B5EF4-FFF2-40B4-BE49-F238E27FC236}">
                <a16:creationId xmlns:a16="http://schemas.microsoft.com/office/drawing/2014/main" id="{55FFF404-1A79-77F3-89A6-F3FF3A6AAC67}"/>
              </a:ext>
            </a:extLst>
          </p:cNvPr>
          <p:cNvSpPr>
            <a:spLocks noGrp="1"/>
          </p:cNvSpPr>
          <p:nvPr>
            <p:ph idx="1"/>
          </p:nvPr>
        </p:nvSpPr>
        <p:spPr>
          <a:xfrm>
            <a:off x="704087" y="2135317"/>
            <a:ext cx="10634473" cy="3683358"/>
          </a:xfrm>
        </p:spPr>
        <p:txBody>
          <a:bodyPr anchor="ctr">
            <a:normAutofit/>
          </a:bodyPr>
          <a:lstStyle/>
          <a:p>
            <a:pPr marL="0" indent="0">
              <a:buNone/>
            </a:pPr>
            <a:r>
              <a:rPr lang="en-US" sz="1600" dirty="0">
                <a:latin typeface="Times New Roman" panose="02020603050405020304" pitchFamily="18" charset="0"/>
                <a:cs typeface="Times New Roman" panose="02020603050405020304" pitchFamily="18" charset="0"/>
              </a:rPr>
              <a:t>Currently Big Mountain charges $80.00 per Adult during weekends. The models run on the four key scenarios resulted us in drawing the conclusion based on two scenarios that if the ticket is increased by $3.00 will effectively generate revenue to support additional chair lift installation that increases their operating costs by $1,540,000.This proves to be a better value for their ticket price.</a:t>
            </a:r>
          </a:p>
        </p:txBody>
      </p:sp>
    </p:spTree>
    <p:extLst>
      <p:ext uri="{BB962C8B-B14F-4D97-AF65-F5344CB8AC3E}">
        <p14:creationId xmlns:p14="http://schemas.microsoft.com/office/powerpoint/2010/main" val="35435706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131</TotalTime>
  <Words>757</Words>
  <Application>Microsoft Office PowerPoint</Application>
  <PresentationFormat>Widescreen</PresentationFormat>
  <Paragraphs>59</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Aptos Display</vt:lpstr>
      <vt:lpstr>Arial</vt:lpstr>
      <vt:lpstr>Times New Roman</vt:lpstr>
      <vt:lpstr>Wingdings</vt:lpstr>
      <vt:lpstr>Office Theme</vt:lpstr>
      <vt:lpstr>Big Mountain Resort Use Case</vt:lpstr>
      <vt:lpstr>Problem Identification</vt:lpstr>
      <vt:lpstr>Problem Identification</vt:lpstr>
      <vt:lpstr>Recommendation &amp; Key findings</vt:lpstr>
      <vt:lpstr>Modeling results and analysis</vt:lpstr>
      <vt:lpstr>Modeling results and analysis</vt:lpstr>
      <vt:lpstr>Modeling results and analysis</vt:lpstr>
      <vt:lpstr>Summary and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Mishra, Ritu, VBAVACO</dc:creator>
  <cp:lastModifiedBy>Mishra, Ritu, VBAVACO</cp:lastModifiedBy>
  <cp:revision>1</cp:revision>
  <dcterms:created xsi:type="dcterms:W3CDTF">2026-01-08T02:04:02Z</dcterms:created>
  <dcterms:modified xsi:type="dcterms:W3CDTF">2026-01-08T04:15:30Z</dcterms:modified>
</cp:coreProperties>
</file>